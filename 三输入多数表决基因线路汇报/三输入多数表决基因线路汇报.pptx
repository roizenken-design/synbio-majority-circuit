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1" Type="http://schemas.openxmlformats.org/package/2006/relationships/metadata/core-properties" Target="docProps/core.xml" /><Relationship Id="rId0" Type="http://schemas.openxmlformats.org/officeDocument/2006/relationships/officeDocument" Target="ppt/presentation.xml" /><Relationship Id="rId2" Type="http://schemas.openxmlformats.org/officeDocument/2006/relationships/extended-properties" Target="docProps/app.xml" /><Relationship Id="rId3" Type="http://schemas.openxmlformats.org/officeDocument/2006/relationships/custom-properties" Target="docProps/custom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14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0" Type="http://schemas.openxmlformats.org/officeDocument/2006/relationships/slideMaster" Target="slideMasters/slideMaster1.xml" /><Relationship Id="rId1" Type="http://schemas.openxmlformats.org/officeDocument/2006/relationships/slide" Target="slides/slide1.xml" /><Relationship Id="rId14" Type="http://schemas.openxmlformats.org/officeDocument/2006/relationships/notesMaster" Target="notesMasters/notesMaster1.xml" /><Relationship Id="rId10" Type="http://schemas.openxmlformats.org/officeDocument/2006/relationships/slide" Target="slides/slide10.xml" /><Relationship Id="rId11" Type="http://schemas.openxmlformats.org/officeDocument/2006/relationships/slide" Target="slides/slide11.xml" /><Relationship Id="rId15" Type="http://schemas.openxmlformats.org/officeDocument/2006/relationships/presProps" Target="presProps.xml" /><Relationship Id="rId13" Type="http://schemas.openxmlformats.org/officeDocument/2006/relationships/slide" Target="slides/slide13.xml" /><Relationship Id="rId12" Type="http://schemas.openxmlformats.org/officeDocument/2006/relationships/slide" Target="slides/slide12.xml" /><Relationship Id="rId16" Type="http://schemas.openxmlformats.org/officeDocument/2006/relationships/tableStyles" Target="tableStyles.xml" /><Relationship Id="rId17" Type="http://schemas.openxmlformats.org/officeDocument/2006/relationships/viewProps" Target="viewProps.xml" /><Relationship Id="rId2" Type="http://schemas.openxmlformats.org/officeDocument/2006/relationships/slide" Target="slides/slide2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8" Type="http://schemas.openxmlformats.org/officeDocument/2006/relationships/slide" Target="slides/slide8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3.png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4.png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5.png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png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.png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 descr="&lt;Slide style={{ width: 1280, height: 720, background: '#0E3F8C', fontFamily: 'Microsoft YaHei', position: 'relative' }}&gt;&#10;    &lt;Box style={{ position: 'absolute', left: 0, top: 0, width: 6, height: 720, background: '#3D7BD9' }} /&gt;&#10;    &lt;Box style={{ position: 'absolute', left: 80, top: 78, flexDirection: 'row', alignItems: 'center', gap: 12 }}&gt;&#10;        &lt;Box style={{ width: 36, height: 4, background: '#3D7BD9' }} /&gt;&#10;        &lt;Text style={{ fontSize: 17, color: '#A9C3E8', letterSpacing: 2 }}&gt;《合成生物学》课程设计&lt;/Text&gt;&#10;    &lt;/Box&gt;&#10;    &lt;Box style={{ position: 'absolute', left: 80, top: 168, width: 1050 }}&gt;&#10;        &lt;Text style={{ fontSize: 62, color: '#FFFFFF', fontWeight: 'bold', lineHeight: 1.22 }}&gt;&#10;            三输入多数表决基因线路&#10;        &lt;/Text&gt;&#10;        &lt;Text style={{ fontSize: 34, color: '#D5E3F6', fontWeight: 'bold', marginTop: 14 }}&gt;&#10;            自动化设计 · 动力学仿真 · 鲁棒性验证&#10;        &lt;/Text&gt;&#10;    &lt;/Box&gt;&#10;    &lt;Box style={{ position: 'absolute', left: 80, top: 404, width: 900 }}&gt;&#10;        &lt;Text style={{ fontSize: 17, color: '#8FAED6', lineHeight: 1.5 }}&gt;&#10;            A 3-Input Majority Voting Genetic Circuit: Automated Design,&#10;            &lt;br /&gt;&#10;            Kinetic Simulation and Robustness Analysis&#10;        &lt;/Text&gt;&#10;    &lt;/Box&gt;&#10;    &lt;Box style={{ position: 'absolute', left: 80, top: 500, width: 260, height: 3, background: '#3D7BD9' }} /&gt;&#10;    &lt;Box style={{ position: 'absolute', left: 80, top: 540, flexDirection: 'row', gap: 56 }}&gt;&#10;        &lt;Box&gt;&#10;            &lt;Text style={{ fontSize: 14, color: '#7C9BC7' }}&gt;汇 报 人&lt;/Text&gt;&#10;            &lt;Text style={{ fontSize: 20, color: '#FFFFFF', marginTop: 6 }}&gt;＿＿＿＿＿&lt;/Text&gt;&#10;        &lt;/Box&gt;&#10;        &lt;Box&gt;&#10;            &lt;Text style={{ fontSize: 14, color: '#7C9BC7' }}&gt;学 号&lt;/Text&gt;&#10;            &lt;Text style={{ fontSize: 20, color: '#FFFFFF', marginTop: 6 }}&gt;＿＿＿＿＿&lt;/Text&gt;&#10;        &lt;/Box&gt;&#10;        &lt;Box&gt;&#10;            &lt;Text style={{ fontSize: 14, color: '#7C9BC7' }}&gt;指导教师&lt;/Text&gt;&#10;            &lt;Text style={{ fontSize: 20, color: '#FFFFFF', marginTop: 6 }}&gt;＿＿＿＿＿&lt;/Text&gt;&#10;        &lt;/Box&gt;&#10;    &lt;/Box&gt;&#10;    &lt;Box style={{ position: 'absolute', left: 80, top: 648 }}&gt;&#10;        &lt;Text style={{ fontSize: 15, color: '#7C9BC7' }}&gt;2026 年 10 月　·　基于 Cello 自动设计平台与官方门库 Eco1C1G1T1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0" y="0"/>
            <a:ext cx="57150" cy="685800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4" name=""/>
          <p:cNvSpPr/>
          <p:nvPr/>
        </p:nvSpPr>
        <p:spPr>
          <a:xfrm rot="0" flipH="0" flipV="0">
            <a:off x="762000" y="828675"/>
            <a:ext cx="342900" cy="3810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1219200" y="742950"/>
            <a:ext cx="19907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spc="150">
                <a:solidFill>
                  <a:srgbClr val="A9C3E8"/>
                </a:solidFill>
                <a:latin typeface="Microsoft YaHei"/>
                <a:ea typeface="Microsoft YaHei"/>
              </a:rPr>
              <a:t>《合成生物学》课程设计</a:t>
            </a:r>
            <a:endParaRPr/>
          </a:p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762000" y="1600200"/>
            <a:ext cx="10001250" cy="866775"/>
          </a:xfrm>
          <a:prstGeom prst="rect"/>
        </p:spPr>
        <p:txBody>
          <a:bodyPr wrap="none" lIns="0" tIns="0" rIns="0" bIns="0"/>
          <a:p>
            <a:pPr>
              <a:lnSpc>
                <a:spcPct val="122000"/>
              </a:lnSpc>
            </a:pPr>
            <a:r>
              <a:rPr lang="zh-CN" sz="4650" b="1">
                <a:solidFill>
                  <a:srgbClr val="FFFFFF"/>
                </a:solidFill>
                <a:latin typeface="Microsoft YaHei"/>
                <a:ea typeface="Microsoft YaHei"/>
              </a:rPr>
              <a:t>三输入多数表决基因线路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762000" y="2600325"/>
            <a:ext cx="100012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D5E3F6"/>
                </a:solidFill>
                <a:latin typeface="Microsoft YaHei"/>
                <a:ea typeface="Microsoft YaHei"/>
              </a:rPr>
              <a:t>自动化设计</a:t>
            </a:r>
            <a:r>
              <a:rPr lang="en-US" sz="2550" b="1">
                <a:solidFill>
                  <a:srgbClr val="D5E3F6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2550" b="1">
                <a:solidFill>
                  <a:srgbClr val="D5E3F6"/>
                </a:solidFill>
                <a:latin typeface="Microsoft YaHei"/>
                <a:ea typeface="Microsoft YaHei"/>
              </a:rPr>
              <a:t>动力学仿真</a:t>
            </a:r>
            <a:r>
              <a:rPr lang="en-US" sz="2550" b="1">
                <a:solidFill>
                  <a:srgbClr val="D5E3F6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2550" b="1">
                <a:solidFill>
                  <a:srgbClr val="D5E3F6"/>
                </a:solidFill>
                <a:latin typeface="Microsoft YaHei"/>
                <a:ea typeface="Microsoft YaHei"/>
              </a:rPr>
              <a:t>鲁棒性验证</a:t>
            </a:r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762000" y="3848100"/>
            <a:ext cx="8572500" cy="5905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75">
                <a:solidFill>
                  <a:srgbClr val="8FAED6"/>
                </a:solidFill>
                <a:latin typeface="Microsoft YaHei"/>
                <a:ea typeface="Microsoft YaHei"/>
              </a:rPr>
              <a:t>A 3-Input Majority Voting Genetic Circuit: Automated Design,</a:t>
            </a:r>
            <a:endParaRPr/>
          </a:p>
          <a:p>
            <a:pPr>
              <a:lnSpc>
                <a:spcPct val="150000"/>
              </a:lnSpc>
            </a:pPr>
            <a:r>
              <a:rPr lang="en-US" sz="1275">
                <a:solidFill>
                  <a:srgbClr val="8FAED6"/>
                </a:solidFill>
                <a:latin typeface="Microsoft YaHei"/>
                <a:ea typeface="Microsoft YaHei"/>
              </a:rPr>
              <a:t>Kinetic Simulation and Robustness Analysis</a:t>
            </a:r>
            <a:endParaRPr/>
          </a:p>
        </p:txBody>
      </p:sp>
      <p:sp>
        <p:nvSpPr>
          <p:cNvPr id="9" name=""/>
          <p:cNvSpPr/>
          <p:nvPr/>
        </p:nvSpPr>
        <p:spPr>
          <a:xfrm rot="0" flipH="0" flipV="0">
            <a:off x="762000" y="4762500"/>
            <a:ext cx="2476500" cy="28575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762000" y="5143500"/>
            <a:ext cx="952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7C9BC7"/>
                </a:solidFill>
                <a:latin typeface="Microsoft YaHei"/>
                <a:ea typeface="Microsoft YaHei"/>
              </a:rPr>
              <a:t>汇</a:t>
            </a:r>
            <a:r>
              <a:rPr lang="en-US" sz="1050">
                <a:solidFill>
                  <a:srgbClr val="7C9BC7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050">
                <a:solidFill>
                  <a:srgbClr val="7C9BC7"/>
                </a:solidFill>
                <a:latin typeface="Microsoft YaHei"/>
                <a:ea typeface="Microsoft YaHei"/>
              </a:rPr>
              <a:t>报</a:t>
            </a:r>
            <a:r>
              <a:rPr lang="en-US" sz="1050">
                <a:solidFill>
                  <a:srgbClr val="7C9BC7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050">
                <a:solidFill>
                  <a:srgbClr val="7C9BC7"/>
                </a:solidFill>
                <a:latin typeface="Microsoft YaHei"/>
                <a:ea typeface="Microsoft YaHei"/>
              </a:rPr>
              <a:t>人</a:t>
            </a:r>
            <a:endParaRPr/>
          </a:p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762000" y="5362575"/>
            <a:ext cx="952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FFFFFF"/>
                </a:solidFill>
                <a:latin typeface="Microsoft YaHei"/>
                <a:ea typeface="Microsoft YaHei"/>
              </a:rPr>
              <a:t>＿＿＿＿＿</a:t>
            </a:r>
            <a:endParaRPr/>
          </a:p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2247900" y="5143500"/>
            <a:ext cx="952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7C9BC7"/>
                </a:solidFill>
                <a:latin typeface="Microsoft YaHei"/>
                <a:ea typeface="Microsoft YaHei"/>
              </a:rPr>
              <a:t>学</a:t>
            </a:r>
            <a:r>
              <a:rPr lang="en-US" sz="1050">
                <a:solidFill>
                  <a:srgbClr val="7C9BC7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050">
                <a:solidFill>
                  <a:srgbClr val="7C9BC7"/>
                </a:solidFill>
                <a:latin typeface="Microsoft YaHei"/>
                <a:ea typeface="Microsoft YaHei"/>
              </a:rPr>
              <a:t>号</a:t>
            </a:r>
            <a:endParaRPr/>
          </a:p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2247900" y="5362575"/>
            <a:ext cx="952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FFFFFF"/>
                </a:solidFill>
                <a:latin typeface="Microsoft YaHei"/>
                <a:ea typeface="Microsoft YaHei"/>
              </a:rPr>
              <a:t>＿＿＿＿＿</a:t>
            </a:r>
            <a:endParaRPr/>
          </a:p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3733800" y="5143500"/>
            <a:ext cx="952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7C9BC7"/>
                </a:solidFill>
                <a:latin typeface="Microsoft YaHei"/>
                <a:ea typeface="Microsoft YaHei"/>
              </a:rPr>
              <a:t>指导教师</a:t>
            </a:r>
            <a:endParaRPr/>
          </a:p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3733800" y="5362575"/>
            <a:ext cx="952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FFFFFF"/>
                </a:solidFill>
                <a:latin typeface="Microsoft YaHei"/>
                <a:ea typeface="Microsoft YaHei"/>
              </a:rPr>
              <a:t>＿＿＿＿＿</a:t>
            </a:r>
            <a:endParaRPr/>
          </a:p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762000" y="6172200"/>
            <a:ext cx="4429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7C9BC7"/>
                </a:solidFill>
                <a:latin typeface="Microsoft YaHei"/>
                <a:ea typeface="Microsoft YaHei"/>
              </a:rPr>
              <a:t xml:space="preserve">2026 </a:t>
            </a:r>
            <a:r>
              <a:rPr lang="zh-CN" sz="1125">
                <a:solidFill>
                  <a:srgbClr val="7C9BC7"/>
                </a:solidFill>
                <a:latin typeface="Microsoft YaHei"/>
                <a:ea typeface="Microsoft YaHei"/>
              </a:rPr>
              <a:t>年</a:t>
            </a:r>
            <a:r>
              <a:rPr lang="en-US" sz="1125">
                <a:solidFill>
                  <a:srgbClr val="7C9BC7"/>
                </a:solidFill>
                <a:latin typeface="Microsoft YaHei"/>
                <a:ea typeface="Microsoft YaHei"/>
              </a:rPr>
              <a:t xml:space="preserve"> 10 </a:t>
            </a:r>
            <a:r>
              <a:rPr lang="zh-CN" sz="1125">
                <a:solidFill>
                  <a:srgbClr val="7C9BC7"/>
                </a:solidFill>
                <a:latin typeface="Microsoft YaHei"/>
                <a:ea typeface="Microsoft YaHei"/>
              </a:rPr>
              <a:t>月　·　基于</a:t>
            </a:r>
            <a:r>
              <a:rPr lang="en-US" sz="1125">
                <a:solidFill>
                  <a:srgbClr val="7C9BC7"/>
                </a:solidFill>
                <a:latin typeface="Microsoft YaHei"/>
                <a:ea typeface="Microsoft YaHei"/>
              </a:rPr>
              <a:t xml:space="preserve"> Cello </a:t>
            </a:r>
            <a:r>
              <a:rPr lang="zh-CN" sz="1125">
                <a:solidFill>
                  <a:srgbClr val="7C9BC7"/>
                </a:solidFill>
                <a:latin typeface="Microsoft YaHei"/>
                <a:ea typeface="Microsoft YaHei"/>
              </a:rPr>
              <a:t>自动设计平台与官方门库</a:t>
            </a:r>
            <a:r>
              <a:rPr lang="en-US" sz="1125">
                <a:solidFill>
                  <a:srgbClr val="7C9BC7"/>
                </a:solidFill>
                <a:latin typeface="Microsoft YaHei"/>
                <a:ea typeface="Microsoft YaHei"/>
              </a:rPr>
              <a:t xml:space="preserve"> Eco1C1G1T1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51" name="" descr="&lt;Slide style={{ width: 1280, height: 720, background: '#FFFFFF', fontFamily: 'Microsoft YaHei', position: 'relative' }}&gt;&#10;    &lt;Box style={{ position: 'absolute', left: 0, top: 0, width: 1280, height: 6, background: '#0E3F8C' }} /&gt;&#10;    &lt;Box style={{ position: 'absolute', left: 0, top: 6, width: 380, height: 714, background: '#0E3F8C' }} /&gt;&#10;    &lt;Box style={{ position: 'absolute', left: 56, top: 170 }}&gt;&#10;        &lt;Text style={{ fontSize: 64, color: '#FFFFFF', fontWeight: 'bold', letterSpacing: 6 }}&gt;目录&lt;/Text&gt;&#10;        &lt;Text style={{ fontSize: 15, color: '#8FAED6', letterSpacing: 4, marginTop: 10 }}&gt;CONTENTS&lt;/Text&gt;&#10;        &lt;Box style={{ width: 44, height: 3, background: '#3D7BD9', marginTop: 28 }} /&gt;&#10;    &lt;/Box&gt;&#10;    &lt;Box style={{ position: 'absolute', left: 56, top: 470, width: 270 }}&gt;&#10;        &lt;Text style={{ fontSize: 16, color: '#A9C3E8', lineHeight: 1.8 }}&gt;&#10;            一次设计能否成立，&#10;            &lt;br /&gt;&#10;            取决于每一步是否可核对。&#10;        &lt;/Text&gt;&#10;    &lt;/Box&gt;&#10;&#10;    {[&#10;        { n: '01', t: '选题与问题定义', d: '生物计算、多数表决、真值表' },&#10;        { n: '02', t: '设计与布线', d: 'Cello 自动设计、门库、三层拓扑' },&#10;        { n: '03', t: '动力学模型', d: '五条假设、Hill 响应、时间常数' },&#10;        { n: '04', t: '仿真与验证', d: '稳态、时序、鲁棒性、外部校验' },&#10;        { n: '05', t: '落地与结论', d: '湿实验方案、创新点、局限' },&#10;    ].map((it, i) =&gt; (&#10;        &lt;Box style={{ position: 'absolute', left: 452, top: 108 + i * 104, width: 780, flexDirection: 'row', alignItems: 'center', gap: 26 }}&gt;&#10;            &lt;Text style={{ fontSize: 30, color: '#B9CCE6', fontWeight: 'bold', width: 62 }}&gt;{it.n}&lt;/Text&gt;&#10;            &lt;Box style={{ width: 2, height: 44, background: '#D6DCE5' }} /&gt;&#10;            &lt;Box&gt;&#10;                &lt;Text style={{ fontSize: 26, color: '#1A2230', fontWeight: 'bold' }}&gt;{it.t}&lt;/Text&gt;&#10;                &lt;Text style={{ fontSize: 15, color: '#8B97A8', marginTop: 4 }}&gt;{it.d}&lt;/Text&gt;&#10;            &lt;/Box&gt;&#10;        &lt;/Box&gt;&#10;    ))}&#10;&#10;    &lt;Box style={{ position: 'absolute', left: 452, top: 668, width: 780, flexDirection: 'row', justifyContent: 'space-between' }}&gt;&#10;        &lt;Text style={{ fontSize: 14, color: '#8B97A8' }}&gt;《合成生物学》课程设计&lt;/Text&gt;&#10;        &lt;Text style={{ fontSize: 14, color: '#1E4FA8' }}&gt;02 / 13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53" name=""/>
          <p:cNvSpPr/>
          <p:nvPr/>
        </p:nvSpPr>
        <p:spPr>
          <a:xfrm rot="0" flipH="0" flipV="0">
            <a:off x="0" y="0"/>
            <a:ext cx="12192000" cy="5715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54" name=""/>
          <p:cNvSpPr/>
          <p:nvPr/>
        </p:nvSpPr>
        <p:spPr>
          <a:xfrm rot="0" flipH="0" flipV="0">
            <a:off x="0" y="57150"/>
            <a:ext cx="3619500" cy="680085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533400" y="1619250"/>
            <a:ext cx="1333500" cy="7334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800" b="1" spc="450">
                <a:solidFill>
                  <a:srgbClr val="FFFFFF"/>
                </a:solidFill>
                <a:latin typeface="Microsoft YaHei"/>
                <a:ea typeface="Microsoft YaHei"/>
              </a:rPr>
              <a:t>目录</a:t>
            </a:r>
            <a:endParaRPr/>
          </a:p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533400" y="2447925"/>
            <a:ext cx="1333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300">
                <a:solidFill>
                  <a:srgbClr val="8FAED6"/>
                </a:solidFill>
                <a:latin typeface="Microsoft YaHei"/>
                <a:ea typeface="Microsoft YaHei"/>
              </a:rPr>
              <a:t>CONTENTS</a:t>
            </a:r>
            <a:endParaRPr/>
          </a:p>
        </p:txBody>
      </p:sp>
      <p:sp>
        <p:nvSpPr>
          <p:cNvPr id="157" name=""/>
          <p:cNvSpPr/>
          <p:nvPr/>
        </p:nvSpPr>
        <p:spPr>
          <a:xfrm rot="0" flipH="0" flipV="0">
            <a:off x="533400" y="2886075"/>
            <a:ext cx="419100" cy="28575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533400" y="4476750"/>
            <a:ext cx="2571750" cy="666750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200">
                <a:solidFill>
                  <a:srgbClr val="A9C3E8"/>
                </a:solidFill>
                <a:latin typeface="Microsoft YaHei"/>
                <a:ea typeface="Microsoft YaHei"/>
              </a:rPr>
              <a:t>一次设计能否成立，</a:t>
            </a:r>
            <a:endParaRPr/>
          </a:p>
          <a:p>
            <a:pPr>
              <a:lnSpc>
                <a:spcPct val="180000"/>
              </a:lnSpc>
            </a:pPr>
            <a:r>
              <a:rPr lang="zh-CN" sz="1200">
                <a:solidFill>
                  <a:srgbClr val="A9C3E8"/>
                </a:solidFill>
                <a:latin typeface="Microsoft YaHei"/>
                <a:ea typeface="Microsoft YaHei"/>
              </a:rPr>
              <a:t>取决于每一步是否可核对。</a:t>
            </a:r>
            <a:endParaRPr/>
          </a:p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4305300" y="1114425"/>
            <a:ext cx="5905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B9CCE6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160" name=""/>
          <p:cNvSpPr/>
          <p:nvPr/>
        </p:nvSpPr>
        <p:spPr>
          <a:xfrm rot="0" flipH="0" flipV="0">
            <a:off x="5143500" y="1076325"/>
            <a:ext cx="19050" cy="419100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5410200" y="1028700"/>
            <a:ext cx="185737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选题与问题定义</a:t>
            </a:r>
            <a:endParaRPr/>
          </a:p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5410200" y="1371600"/>
            <a:ext cx="1857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生物计算、多数表决、真值表</a:t>
            </a:r>
            <a:endParaRPr/>
          </a:p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4305300" y="2105025"/>
            <a:ext cx="5905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B9CCE6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164" name=""/>
          <p:cNvSpPr/>
          <p:nvPr/>
        </p:nvSpPr>
        <p:spPr>
          <a:xfrm rot="0" flipH="0" flipV="0">
            <a:off x="5143500" y="2066925"/>
            <a:ext cx="19050" cy="419100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5410200" y="2019300"/>
            <a:ext cx="21050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设计与布线</a:t>
            </a:r>
            <a:endParaRPr/>
          </a:p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5410200" y="2362200"/>
            <a:ext cx="21050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 xml:space="preserve">Cello </a:t>
            </a: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自动设计、门库、三层拓扑</a:t>
            </a:r>
            <a:endParaRPr/>
          </a:p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4305300" y="3095625"/>
            <a:ext cx="5905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B9CCE6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168" name=""/>
          <p:cNvSpPr/>
          <p:nvPr/>
        </p:nvSpPr>
        <p:spPr>
          <a:xfrm rot="0" flipH="0" flipV="0">
            <a:off x="5143500" y="3057525"/>
            <a:ext cx="19050" cy="419100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5410200" y="3009900"/>
            <a:ext cx="1990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动力学模型</a:t>
            </a:r>
            <a:endParaRPr/>
          </a:p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5410200" y="3352800"/>
            <a:ext cx="19907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五条假设、</a:t>
            </a: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 xml:space="preserve">Hill </a:t>
            </a: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响应、时间常数</a:t>
            </a:r>
            <a:endParaRPr/>
          </a:p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4305300" y="4086225"/>
            <a:ext cx="5905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B9CCE6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172" name=""/>
          <p:cNvSpPr/>
          <p:nvPr/>
        </p:nvSpPr>
        <p:spPr>
          <a:xfrm rot="0" flipH="0" flipV="0">
            <a:off x="5143500" y="4048125"/>
            <a:ext cx="19050" cy="419100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5410200" y="4000500"/>
            <a:ext cx="20002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仿真与验证</a:t>
            </a:r>
            <a:endParaRPr/>
          </a:p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5410200" y="4343400"/>
            <a:ext cx="2000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稳态、时序、鲁棒性、外部校验</a:t>
            </a:r>
            <a:endParaRPr/>
          </a:p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4305300" y="5076825"/>
            <a:ext cx="5905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B9CCE6"/>
                </a:solidFill>
                <a:latin typeface="Microsoft YaHei"/>
                <a:ea typeface="Microsoft YaHei"/>
              </a:rPr>
              <a:t>05</a:t>
            </a:r>
            <a:endParaRPr/>
          </a:p>
        </p:txBody>
      </p:sp>
      <p:sp>
        <p:nvSpPr>
          <p:cNvPr id="176" name=""/>
          <p:cNvSpPr/>
          <p:nvPr/>
        </p:nvSpPr>
        <p:spPr>
          <a:xfrm rot="0" flipH="0" flipV="0">
            <a:off x="5143500" y="5038725"/>
            <a:ext cx="19050" cy="419100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5410200" y="4991100"/>
            <a:ext cx="17145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落地与结论</a:t>
            </a:r>
            <a:endParaRPr/>
          </a:p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5410200" y="5334000"/>
            <a:ext cx="1714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湿实验方案、创新点、局限</a:t>
            </a:r>
            <a:endParaRPr/>
          </a:p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4305300" y="6362700"/>
            <a:ext cx="1466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《合成生物学》课程设计</a:t>
            </a:r>
            <a:endParaRPr/>
          </a:p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11277600" y="63627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E4FA8"/>
                </a:solidFill>
                <a:latin typeface="Microsoft YaHei"/>
                <a:ea typeface="Microsoft YaHei"/>
              </a:rPr>
              <a:t>02 / 13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81" name="" descr="&lt;Slide style={{ width: 1280, height: 720, background: '#FFFFFF', fontFamily: 'Microsoft YaHei', position: 'relative' }}&gt;&#10;    &lt;Box style={{ position: 'absolute', left: 0, top: 0, width: 1280, height: 6, background: '#0E3F8C' }} /&gt;&#10;    &lt;Box style={{ position: 'absolute', left: 40, top: 34, width: 1200, flexDirection: 'row', alignItems: 'flex-end', justifyContent: 'space-between' }}&gt;&#10;        &lt;Box style={{ flexDirection: 'row', alignItems: 'center', gap: 14 }}&gt;&#10;            &lt;Box style={{ width: 6, height: 32, background: '#1E4FA8' }} /&gt;&#10;            &lt;Text style={{ fontSize: 32, fontWeight: 'bold', color: '#0E3F8C' }}&gt;细胞如何做&quot;多数表决&quot;&lt;/Text&gt;&#10;        &lt;/Box&gt;&#10;        &lt;Text style={{ fontSize: 14, color: '#8B97A8' }}&gt;01　选题与问题定义&lt;/Text&gt;&#10;    &lt;/Box&gt;&#10;    &lt;Box style={{ position: 'absolute', left: 40, top: 92, width: 1200, height: 1, background: '#D6DCE5' }} /&gt;&#10;&#10;    &lt;Box style={{ position: 'absolute', left: 40, top: 122, width: 610 }}&gt;&#10;        &lt;Text style={{ fontSize: 20, color: '#1A2230', lineHeight: 1.8 }}&gt;&#10;            合成生物学的一个核心主张，是把细胞当作可编程的底物：用标准化的 DNA 元件搭逻辑门，让细胞对多个环境信号做出&quot;计算&quot;后的响应。&#10;        &lt;/Text&gt;&#10;        &lt;Text style={{ fontSize: 20, color: '#1A2230', lineHeight: 1.8, marginTop: 14 }}&gt;&#10;            教材第 3 章把合成基因线路定义为&quot;由不同功能的生物分子和基因元件组成的&lt;span style={{ color: '#1E4FA8', fontWeight: 'bold' }}&gt;自动控制装置&lt;/span&gt;&quot;，并按功能分为逻辑门线路与其他功能线路；第 2 章 2.4 节给出组合逻辑与前馈结构的分类。&#10;        &lt;/Text&gt;&#10;        &lt;Text style={{ fontSize: 20, color: '#1A2230', lineHeight: 1.8, marginTop: 14 }}&gt;&#10;            本设计选其中最有&quot;决策&quot;意味的一个：&lt;span style={{ color: '#0E3F8C', fontWeight: 'bold' }}&gt;三个信号中至少两个为真，才启动响应&lt;/span&gt;。它对应细胞在多重胁迫下的抗噪决策，避免单一信号误触发。&#10;        &lt;/Text&gt;&#10;        &lt;Box style={{ marginTop: 20, padding: 14, background: '#F0F5FC', borderLeft: '4px solid #1E4FA8' }}&gt;&#10;            &lt;Text style={{ fontSize: 15, color: '#4A5568', lineHeight: 1.55 }}&gt;&#10;                为什么不做更复杂的计算？——课程设计只有两周、且没有湿实验条件。选一个能&lt;span style={{ fontWeight: 'bold', color: '#0E3F8C' }}&gt;穷举验证&lt;/span&gt;的功能，才说得清&quot;做对了没有&quot;。&#10;            &lt;/Text&gt;&#10;        &lt;/Box&gt;&#10;    &lt;/Box&gt;&#10;&#10;    &lt;Box style={{ position: 'absolute', left: 700, top: 122, width: 540, height: 492, background: '#F7F9FC', border: '1px solid #D6DCE5', borderRadius: 10, padding: 24 }}&gt;&#10;        &lt;Text style={{ fontSize: 14, color: '#8B97A8', letterSpacing: 1 }}&gt;MECHANISM&lt;/Text&gt;&#10;        &lt;Text style={{ fontSize: 22, color: '#0E3F8C', fontWeight: 'bold', marginTop: 4 }}&gt;三输入多数表决&lt;/Text&gt;&#10;&#10;        &lt;Box style={{ flexDirection: 'row', gap: 10, marginTop: 22 }}&gt;&#10;            {['信号 A', '信号 B', '信号 C'].map((s) =&gt; (&#10;                &lt;Box style={{ flex: 1, height: 48, background: '#FFFFFF', border: '1px solid #C7D8EF', borderRadius: 6, alignItems: 'center', justifyContent: 'center' }}&gt;&#10;                    &lt;Text style={{ fontSize: 16, color: '#1E4FA8', fontWeight: 'bold' }}&gt;{s}&lt;/Text&gt;&#10;                &lt;/Box&gt;&#10;            ))}&#10;        &lt;/Box&gt;&#10;        &lt;Text style={{ fontSize: 20, color: '#9FB4CE', textAlign: 'center', marginTop: 8 }}&gt;↓&lt;/Text&gt;&#10;        &lt;Box style={{ height: 60, background: '#1E4FA8', borderRadius: 8, alignItems: 'center', justifyContent: 'center' }}&gt;&#10;            &lt;Text style={{ fontSize: 21, color: '#FFFFFF', fontWeight: 'bold' }}&gt;≥ 2 个信号为真&lt;/Text&gt;&#10;        &lt;/Box&gt;&#10;        &lt;Text style={{ fontSize: 20, color: '#9FB4CE', textAlign: 'center', marginTop: 8 }}&gt;↓&lt;/Text&gt;&#10;        &lt;Box style={{ height: 54, background: '#FFFFFF', border: '2px solid #1E4FA8', borderRadius: 8, alignItems: 'center', justifyContent: 'center' }}&gt;&#10;            &lt;Text style={{ fontSize: 19, color: '#0E3F8C', fontWeight: 'bold' }}&gt;YFP 荧光输出&lt;/Text&gt;&#10;        &lt;/Box&gt;&#10;&#10;        &lt;Box style={{ marginTop: 20, paddingTop: 14, borderTop: '1px solid #D6DCE5' }}&gt;&#10;            &lt;Text style={{ fontSize: 15, color: '#4A5568', lineHeight: 1.6 }}&gt;&#10;                生物学语义：三路胁迫信号中任意两路出现才响应，单路波动不触发——这是&quot;投票&quot;，不是&quot;或&quot;。&#10;            &lt;/Text&gt;&#10;        &lt;/Box&gt;&#10;    &lt;/Box&gt;&#10;&#10;    &lt;Box style={{ position: 'absolute', left: 40, top: 672, width: 1200, flexDirection: 'row', justifyContent: 'space-between' }}&gt;&#10;        &lt;Text style={{ fontSize: 14, color: '#8B97A8' }}&gt;《合成生物学》课程设计 · 三输入多数表决基因线路&lt;/Text&gt;&#10;        &lt;Text style={{ fontSize: 14, color: '#1E4FA8' }}&gt;03 / 13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83" name=""/>
          <p:cNvSpPr/>
          <p:nvPr/>
        </p:nvSpPr>
        <p:spPr>
          <a:xfrm rot="0" flipH="0" flipV="0">
            <a:off x="0" y="0"/>
            <a:ext cx="12192000" cy="5715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84" name=""/>
          <p:cNvSpPr/>
          <p:nvPr/>
        </p:nvSpPr>
        <p:spPr>
          <a:xfrm rot="0" flipH="0" flipV="0">
            <a:off x="381000" y="361950"/>
            <a:ext cx="57150" cy="304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571500" y="323850"/>
            <a:ext cx="306705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E3F8C"/>
                </a:solidFill>
                <a:latin typeface="Microsoft YaHei"/>
                <a:ea typeface="Microsoft YaHei"/>
              </a:rPr>
              <a:t>细胞如何做</a:t>
            </a:r>
            <a:r>
              <a:rPr lang="en-US" sz="2400" b="1">
                <a:solidFill>
                  <a:srgbClr val="0E3F8C"/>
                </a:solidFill>
                <a:latin typeface="Microsoft YaHei"/>
                <a:ea typeface="Microsoft YaHei"/>
              </a:rPr>
              <a:t>"</a:t>
            </a:r>
            <a:r>
              <a:rPr lang="zh-CN" sz="2400" b="1">
                <a:solidFill>
                  <a:srgbClr val="0E3F8C"/>
                </a:solidFill>
                <a:latin typeface="Microsoft YaHei"/>
                <a:ea typeface="Microsoft YaHei"/>
              </a:rPr>
              <a:t>多数表决</a:t>
            </a:r>
            <a:r>
              <a:rPr lang="en-US" sz="2400" b="1">
                <a:solidFill>
                  <a:srgbClr val="0E3F8C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10582275" y="533400"/>
            <a:ext cx="1228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01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　选题与问题定义</a:t>
            </a:r>
            <a:endParaRPr/>
          </a:p>
        </p:txBody>
      </p:sp>
      <p:sp>
        <p:nvSpPr>
          <p:cNvPr id="187" name=""/>
          <p:cNvSpPr/>
          <p:nvPr/>
        </p:nvSpPr>
        <p:spPr>
          <a:xfrm rot="0" flipH="0" flipV="0">
            <a:off x="381000" y="876300"/>
            <a:ext cx="11430000" cy="9525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381000" y="1162050"/>
            <a:ext cx="5810250" cy="1238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合成生物学的一个核心主张，是把细胞当作可编程的底物：用标准化的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 xml:space="preserve"> DNA 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元件搭逻辑门，让细胞对多个环境信号做出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计算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后的响应。</a:t>
            </a:r>
            <a:endParaRPr/>
          </a:p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381000" y="2533650"/>
            <a:ext cx="5810250" cy="1238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教材第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 xml:space="preserve"> 3 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章把合成基因线路定义为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由不同功能的生物分子和基因元件组成的</a:t>
            </a:r>
            <a:r>
              <a:rPr lang="zh-CN" sz="1500" b="1">
                <a:solidFill>
                  <a:srgbClr val="1E4FA8"/>
                </a:solidFill>
                <a:latin typeface="Microsoft YaHei"/>
                <a:ea typeface="Microsoft YaHei"/>
              </a:rPr>
              <a:t>自动控制装置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，并按功能分为逻辑门线路与其他功能线路；第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 xml:space="preserve"> 2 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章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 xml:space="preserve"> 2.4 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节给出组合逻辑与前馈结构的分类。</a:t>
            </a:r>
            <a:endParaRPr/>
          </a:p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381000" y="3905250"/>
            <a:ext cx="5810250" cy="1238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本设计选其中最有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决策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意味的一个：</a:t>
            </a:r>
            <a:r>
              <a:rPr lang="zh-CN" sz="1500" b="1">
                <a:solidFill>
                  <a:srgbClr val="0E3F8C"/>
                </a:solidFill>
                <a:latin typeface="Microsoft YaHei"/>
                <a:ea typeface="Microsoft YaHei"/>
              </a:rPr>
              <a:t>三个信号中至少两个为真，才启动响应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。它对应细胞在多重胁迫下的抗噪决策，避免单一信号误触发。</a:t>
            </a:r>
            <a:endParaRPr/>
          </a:p>
        </p:txBody>
      </p:sp>
      <p:sp>
        <p:nvSpPr>
          <p:cNvPr id="191" name=""/>
          <p:cNvSpPr/>
          <p:nvPr/>
        </p:nvSpPr>
        <p:spPr>
          <a:xfrm rot="0" flipH="0" flipV="0">
            <a:off x="419100" y="5334000"/>
            <a:ext cx="5810250" cy="800100"/>
          </a:xfrm>
          <a:prstGeom prst="rect">
            <a:avLst/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192" name=""/>
          <p:cNvSpPr/>
          <p:nvPr/>
        </p:nvSpPr>
        <p:spPr>
          <a:xfrm rot="0" flipH="0" flipV="0">
            <a:off x="381000" y="5334000"/>
            <a:ext cx="5848350" cy="800100"/>
          </a:xfrm>
          <a:custGeom>
            <a:pathLst>
              <a:path w="614" h="84">
                <a:moveTo>
                  <a:pt x="0" y="0"/>
                </a:moveTo>
                <a:lnTo>
                  <a:pt x="4" y="0"/>
                </a:lnTo>
                <a:lnTo>
                  <a:pt x="4" y="84"/>
                </a:lnTo>
                <a:lnTo>
                  <a:pt x="0" y="84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552450" y="5467350"/>
            <a:ext cx="550545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为什么不做更复杂的计算？——课程设计只有两周、且没有湿实验条件。选一个能</a:t>
            </a:r>
            <a:r>
              <a:rPr lang="zh-CN" sz="1125" b="1">
                <a:solidFill>
                  <a:srgbClr val="0E3F8C"/>
                </a:solidFill>
                <a:latin typeface="Microsoft YaHei"/>
                <a:ea typeface="Microsoft YaHei"/>
              </a:rPr>
              <a:t>穷举验证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的功能，才说得清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做对了没有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194" name=""/>
          <p:cNvSpPr/>
          <p:nvPr/>
        </p:nvSpPr>
        <p:spPr>
          <a:xfrm rot="0" flipH="0" flipV="0">
            <a:off x="6667500" y="1162050"/>
            <a:ext cx="5143500" cy="4686300"/>
          </a:xfrm>
          <a:prstGeom prst="roundRect">
            <a:avLst>
              <a:gd name="adj" fmla="val 2033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6896100" y="1390650"/>
            <a:ext cx="4686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75">
                <a:solidFill>
                  <a:srgbClr val="8B97A8"/>
                </a:solidFill>
                <a:latin typeface="Microsoft YaHei"/>
                <a:ea typeface="Microsoft YaHei"/>
              </a:rPr>
              <a:t>MECHANISM</a:t>
            </a:r>
            <a:endParaRPr/>
          </a:p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6896100" y="1590675"/>
            <a:ext cx="46863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Microsoft YaHei"/>
                <a:ea typeface="Microsoft YaHei"/>
              </a:rPr>
              <a:t>三输入多数表决</a:t>
            </a:r>
            <a:endParaRPr/>
          </a:p>
        </p:txBody>
      </p:sp>
      <p:sp>
        <p:nvSpPr>
          <p:cNvPr id="197" name=""/>
          <p:cNvSpPr/>
          <p:nvPr/>
        </p:nvSpPr>
        <p:spPr>
          <a:xfrm rot="0" flipH="0" flipV="0">
            <a:off x="6896100" y="2057400"/>
            <a:ext cx="1495425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C7D8EF"/>
            </a:solidFill>
            <a:prstDash val="solid"/>
          </a:ln>
        </p:spPr>
        <p:txBody>
          <a:bodyPr/>
          <a:p/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7410450" y="2190750"/>
            <a:ext cx="4667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E4FA8"/>
                </a:solidFill>
                <a:latin typeface="Microsoft YaHei"/>
                <a:ea typeface="Microsoft YaHei"/>
              </a:rPr>
              <a:t>信号</a:t>
            </a:r>
            <a:r>
              <a:rPr lang="en-US" sz="1200" b="1">
                <a:solidFill>
                  <a:srgbClr val="1E4FA8"/>
                </a:solidFill>
                <a:latin typeface="Microsoft YaHei"/>
                <a:ea typeface="Microsoft YaHei"/>
              </a:rPr>
              <a:t xml:space="preserve"> A</a:t>
            </a:r>
            <a:endParaRPr/>
          </a:p>
        </p:txBody>
      </p:sp>
      <p:sp>
        <p:nvSpPr>
          <p:cNvPr id="199" name=""/>
          <p:cNvSpPr/>
          <p:nvPr/>
        </p:nvSpPr>
        <p:spPr>
          <a:xfrm rot="0" flipH="0" flipV="0">
            <a:off x="8486775" y="2057400"/>
            <a:ext cx="1504950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C7D8EF"/>
            </a:solidFill>
            <a:prstDash val="solid"/>
          </a:ln>
        </p:spPr>
        <p:txBody>
          <a:bodyPr/>
          <a:p/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9010650" y="2190750"/>
            <a:ext cx="457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E4FA8"/>
                </a:solidFill>
                <a:latin typeface="Microsoft YaHei"/>
                <a:ea typeface="Microsoft YaHei"/>
              </a:rPr>
              <a:t>信号</a:t>
            </a:r>
            <a:r>
              <a:rPr lang="en-US" sz="1200" b="1">
                <a:solidFill>
                  <a:srgbClr val="1E4FA8"/>
                </a:solidFill>
                <a:latin typeface="Microsoft YaHei"/>
                <a:ea typeface="Microsoft YaHei"/>
              </a:rPr>
              <a:t xml:space="preserve"> B</a:t>
            </a:r>
            <a:endParaRPr/>
          </a:p>
        </p:txBody>
      </p:sp>
      <p:sp>
        <p:nvSpPr>
          <p:cNvPr id="201" name=""/>
          <p:cNvSpPr/>
          <p:nvPr/>
        </p:nvSpPr>
        <p:spPr>
          <a:xfrm rot="0" flipH="0" flipV="0">
            <a:off x="10086975" y="2057400"/>
            <a:ext cx="1495425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C7D8EF"/>
            </a:solidFill>
            <a:prstDash val="solid"/>
          </a:ln>
        </p:spPr>
        <p:txBody>
          <a:bodyPr/>
          <a:p/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10610850" y="2190750"/>
            <a:ext cx="457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E4FA8"/>
                </a:solidFill>
                <a:latin typeface="Microsoft YaHei"/>
                <a:ea typeface="Microsoft YaHei"/>
              </a:rPr>
              <a:t>信号</a:t>
            </a:r>
            <a:r>
              <a:rPr lang="en-US" sz="1200" b="1">
                <a:solidFill>
                  <a:srgbClr val="1E4FA8"/>
                </a:solidFill>
                <a:latin typeface="Microsoft YaHei"/>
                <a:ea typeface="Microsoft YaHei"/>
              </a:rPr>
              <a:t xml:space="preserve"> C</a:t>
            </a:r>
            <a:endParaRPr/>
          </a:p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6896100" y="2590800"/>
            <a:ext cx="4686300" cy="2286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500">
                <a:solidFill>
                  <a:srgbClr val="9FB4CE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204" name=""/>
          <p:cNvSpPr/>
          <p:nvPr/>
        </p:nvSpPr>
        <p:spPr>
          <a:xfrm rot="0" flipH="0" flipV="0">
            <a:off x="6896100" y="2819400"/>
            <a:ext cx="4686300" cy="571500"/>
          </a:xfrm>
          <a:prstGeom prst="roundRect">
            <a:avLst>
              <a:gd name="adj" fmla="val 13333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8543925" y="2981325"/>
            <a:ext cx="14001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≥ 2 </a:t>
            </a: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</a:rPr>
              <a:t>个信号为真</a:t>
            </a:r>
            <a:endParaRPr/>
          </a:p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6896100" y="3467100"/>
            <a:ext cx="4686300" cy="2286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500">
                <a:solidFill>
                  <a:srgbClr val="9FB4CE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207" name=""/>
          <p:cNvSpPr/>
          <p:nvPr/>
        </p:nvSpPr>
        <p:spPr>
          <a:xfrm rot="0" flipH="0" flipV="0">
            <a:off x="6896100" y="3695700"/>
            <a:ext cx="46863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25400">
            <a:solidFill>
              <a:srgbClr val="1E4FA8"/>
            </a:solidFill>
            <a:prstDash val="solid"/>
          </a:ln>
        </p:spPr>
        <p:txBody>
          <a:bodyPr/>
          <a:p/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8677275" y="3848100"/>
            <a:ext cx="11239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YFP </a:t>
            </a:r>
            <a:r>
              <a:rPr lang="zh-CN" sz="1425" b="1">
                <a:solidFill>
                  <a:srgbClr val="0E3F8C"/>
                </a:solidFill>
                <a:latin typeface="Microsoft YaHei"/>
                <a:ea typeface="Microsoft YaHei"/>
              </a:rPr>
              <a:t>荧光输出</a:t>
            </a:r>
            <a:endParaRPr/>
          </a:p>
        </p:txBody>
      </p:sp>
      <p:sp>
        <p:nvSpPr>
          <p:cNvPr id="209" name=""/>
          <p:cNvSpPr/>
          <p:nvPr/>
        </p:nvSpPr>
        <p:spPr>
          <a:xfrm rot="0" flipH="0" flipV="0">
            <a:off x="6896100" y="4400550"/>
            <a:ext cx="4686300" cy="704850"/>
          </a:xfrm>
          <a:custGeom>
            <a:pathLst>
              <a:path w="492" h="74">
                <a:moveTo>
                  <a:pt x="0" y="0"/>
                </a:moveTo>
                <a:lnTo>
                  <a:pt x="492" y="0"/>
                </a:lnTo>
                <a:lnTo>
                  <a:pt x="492" y="1"/>
                </a:lnTo>
                <a:lnTo>
                  <a:pt x="0" y="1"/>
                </a:lnTo>
                <a:close/>
              </a:path>
            </a:pathLst>
          </a:custGeom>
          <a:solidFill>
            <a:srgbClr val="D6DCE5"/>
          </a:solidFill>
          <a:ln/>
        </p:spPr>
        <p:txBody>
          <a:bodyPr/>
          <a:p/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6896100" y="4543425"/>
            <a:ext cx="46863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生物学语义：三路胁迫信号中任意两路出现才响应，单路波动不触发——这是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投票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，不是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或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381000" y="6400800"/>
            <a:ext cx="3048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《合成生物学》课程设计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三输入多数表决基因线路</a:t>
            </a:r>
            <a:endParaRPr/>
          </a:p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113538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E4FA8"/>
                </a:solidFill>
                <a:latin typeface="Microsoft YaHei"/>
                <a:ea typeface="Microsoft YaHei"/>
              </a:rPr>
              <a:t>03 / 13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 xmlns:a16="http://schemas.microsoft.com/office/drawing/2014/main" xmlns:mc="http://schemas.openxmlformats.org/markup-compatibility/2006" mc:Ignorable="a16">
  <p:cSld>
    <p:spTree>
      <p:nvGrpSpPr>
        <p:cNvPr id="213" name="" descr="&lt;Slide style={{ width: 1280, height: 720, background: '#FFFFFF', fontFamily: 'Microsoft YaHei', position: 'relative' }}&gt;&#10;    &lt;Box style={{ position: 'absolute', left: 0, top: 0, width: 1280, height: 6, background: '#0E3F8C' }} /&gt;&#10;    &lt;Box style={{ position: 'absolute', left: 40, top: 34, width: 1200, flexDirection: 'row', alignItems: 'flex-end', justifyContent: 'space-between' }}&gt;&#10;        &lt;Box style={{ flexDirection: 'row', alignItems: 'center', gap: 14 }}&gt;&#10;            &lt;Box style={{ width: 6, height: 32, background: '#1E4FA8' }} /&gt;&#10;            &lt;Text style={{ fontSize: 32, fontWeight: 'bold', color: '#0E3F8C' }}&gt;需求形式化：一张真值表定输赢&lt;/Text&gt;&#10;        &lt;/Box&gt;&#10;        &lt;Text style={{ fontSize: 14, color: '#8B97A8' }}&gt;01　选题与问题定义&lt;/Text&gt;&#10;    &lt;/Box&gt;&#10;    &lt;Box style={{ position: 'absolute', left: 40, top: 92, width: 1200, height: 1, background: '#D6DCE5' }} /&gt;&#10;&#10;    &lt;Box style={{ position: 'absolute', left: 40, top: 126 }}&gt;&#10;        &lt;Text style={{ fontSize: 17, color: '#4A5568', marginBottom: 10 }}&gt;输入输出定义（A = pTet，B = pBAD，C = pTac）&lt;/Text&gt;&#10;        &lt;Table&#10;            style={{ width: 520, height: 404 }}&#10;            defaultTextStyle={{ fontSize: 18, textAlign: 'center', color: '#1A2230' }}&#10;            defaultCellStyle={{ border: { left: { width: 1, color: '#D6DCE5' }, right: { width: 1, color: '#D6DCE5' }, top: { width: 1, color: '#D6DCE5' }, bottom: { width: 1, color: '#D6DCE5' } } }}&#10;            cells={[&#10;                [&#10;                    { text: 'A', textStyle: { bold: true, color: '#FFFFFF' }, cellStyle: { background: { color: '#1E4FA8' } } },&#10;                    { text: 'B', textStyle: { bold: true, color: '#FFFFFF' }, cellStyle: { background: { color: '#1E4FA8' } } },&#10;                    { text: 'C', textStyle: { bold: true, color: '#FFFFFF' }, cellStyle: { background: { color: '#1E4FA8' } } },&#10;                    { text: '输出', textStyle: { bold: true, color: '#FFFFFF' }, cellStyle: { background: { color: '#1E4FA8' } } },&#10;                ],&#10;                ['0', '0', '0', { text: '0', textStyle: { color: '#8B97A8' } }],&#10;                ['0', '0', '1', { text: '0', textStyle: { color: '#8B97A8' } }],&#10;                ['0', '1', '0', { text: '0', textStyle: { color: '#8B97A8' } }],&#10;                [&#10;                    { text: '0', cellStyle: { background: { color: '#E8EFF8' } } },&#10;                    { text: '1', cellStyle: { background: { color: '#E8EFF8' } } },&#10;                    { text: '1', cellStyle: { background: { color: '#E8EFF8' } } },&#10;                    { text: '1', textStyle: { color: '#1E4FA8', bold: true }, cellStyle: { background: { color: '#E8EFF8' } } },&#10;                ],&#10;                ['1', '0', '0', { text: '0', textStyle: { color: '#8B97A8' } }],&#10;                [&#10;                    { text: '1', cellStyle: { background: { color: '#E8EFF8' } } },&#10;                    { text: '0', cellStyle: { background: { color: '#E8EFF8' } } },&#10;                    { text: '1', cellStyle: { background: { color: '#E8EFF8' } } },&#10;                    { text: '1', textStyle: { color: '#1E4FA8', bold: true }, cellStyle: { background: { color: '#E8EFF8' } } },&#10;                ],&#10;                [&#10;                    { text: '1', cellStyle: { background: { color: '#E8EFF8' } } },&#10;                    { text: '1', cellStyle: { background: { color: '#E8EFF8' } } },&#10;                    { text: '0', cellStyle: { background: { color: '#E8EFF8' } } },&#10;                    { text: '1', textStyle: { color: '#1E4FA8', bold: true }, cellStyle: { background: { color: '#E8EFF8' } } },&#10;                ],&#10;                [&#10;                    { text: '1', cellStyle: { background: { color: '#E8EFF8' } } },&#10;                    { text: '1', cellStyle: { background: { color: '#E8EFF8' } } },&#10;                    { text: '1', cellStyle: { background: { color: '#E8EFF8' } } },&#10;                    { text: '1', textStyle: { color: '#1E4FA8', bold: true }, cellStyle: { background: { color: '#E8EFF8' } } },&#10;                ],&#10;            ]}&#10;        /&gt;&#10;    &lt;/Box&gt;&#10;&#10;    &lt;Box style={{ position: 'absolute', left: 620, top: 126, width: 620 }}&gt;&#10;        &lt;Text style={{ fontSize: 14, color: '#8B97A8', letterSpacing: 1 }}&gt;BOOLEAN EXPRESSION&lt;/Text&gt;&#10;        &lt;Box style={{ marginTop: 10, padding: '22px 26px', background: '#F0F5FC', border: '1px solid #C7D8EF', borderRadius: 8 }}&gt;&#10;            &lt;Text style={{ fontSize: 38, color: '#0E3F8C', fontWeight: 'bold' }}&gt;Y = AB + AC + BC&lt;/Text&gt;&#10;            &lt;Text style={{ fontSize: 20, color: '#4A5568', marginTop: 10 }}&gt;等价写法：Y = AB + C(A + B)&lt;/Text&gt;&#10;        &lt;/Box&gt;&#10;&#10;        &lt;Text style={{ fontSize: 18, color: '#1A2230', fontWeight: 'bold', marginTop: 26 }}&gt;为什么这个定义适合课程设计&lt;/Text&gt;&#10;&#10;        {[&#10;            { k: '可穷举', v: '只有 8 种输入组合，&quot;8/8 正确&quot;是可证伪的硬指标，不依赖主观判断。' },&#10;            { k: '有语义', v: '三取二对应细胞抗噪决策；单路波动不会误触发，这正是&quot;投票&quot;与&quot;或&quot;的差别。' },&#10;            { k: '有基准', v: 'Cello 官方测试库含 majority 电路（assignment A000），可与官方结果对照。' },&#10;        ].map((it) =&gt; (&#10;            &lt;Box style={{ flexDirection: 'row', gap: 14, marginTop: 14 }}&gt;&#10;                &lt;Box style={{ width: 4, background: '#3D7BD9', borderRadius: 2 }} /&gt;&#10;                &lt;Box style={{ width: 560 }}&gt;&#10;                    &lt;Text style={{ fontSize: 18, color: '#0E3F8C', fontWeight: 'bold' }}&gt;{it.k}&lt;/Text&gt;&#10;                    &lt;Text style={{ fontSize: 16, color: '#4A5568', lineHeight: 1.6, marginTop: 2 }}&gt;{it.v}&lt;/Text&gt;&#10;                &lt;/Box&gt;&#10;            &lt;/Box&gt;&#10;        ))}&#10;    &lt;/Box&gt;&#10;&#10;    &lt;Box style={{ position: 'absolute', left: 40, top: 672, width: 1200, flexDirection: 'row', justifyContent: 'space-between' }}&gt;&#10;        &lt;Text style={{ fontSize: 14, color: '#8B97A8' }}&gt;《合成生物学》课程设计 · 三输入多数表决基因线路&lt;/Text&gt;&#10;        &lt;Text style={{ fontSize: 14, color: '#1E4FA8' }}&gt;04 / 13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15" name=""/>
          <p:cNvSpPr/>
          <p:nvPr/>
        </p:nvSpPr>
        <p:spPr>
          <a:xfrm rot="0" flipH="0" flipV="0">
            <a:off x="0" y="0"/>
            <a:ext cx="12192000" cy="5715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16" name=""/>
          <p:cNvSpPr/>
          <p:nvPr/>
        </p:nvSpPr>
        <p:spPr>
          <a:xfrm rot="0" flipH="0" flipV="0">
            <a:off x="381000" y="361950"/>
            <a:ext cx="57150" cy="304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571500" y="323850"/>
            <a:ext cx="42672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E3F8C"/>
                </a:solidFill>
                <a:latin typeface="Microsoft YaHei"/>
                <a:ea typeface="Microsoft YaHei"/>
              </a:rPr>
              <a:t>需求形式化：一张真值表定输赢</a:t>
            </a:r>
            <a:endParaRPr/>
          </a:p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10582275" y="533400"/>
            <a:ext cx="1228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01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　选题与问题定义</a:t>
            </a:r>
            <a:endParaRPr/>
          </a:p>
        </p:txBody>
      </p:sp>
      <p:sp>
        <p:nvSpPr>
          <p:cNvPr id="219" name=""/>
          <p:cNvSpPr/>
          <p:nvPr/>
        </p:nvSpPr>
        <p:spPr>
          <a:xfrm rot="0" flipH="0" flipV="0">
            <a:off x="381000" y="876300"/>
            <a:ext cx="11430000" cy="9525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381000" y="1200150"/>
            <a:ext cx="4953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输入输出定义（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A = pTet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，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B = pBAD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，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C = pTac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graphicFrame>
        <p:nvGraphicFramePr>
          <p:cNvPr id="221" name=""/>
          <p:cNvGraphicFramePr/>
          <p:nvPr/>
        </p:nvGraphicFramePr>
        <p:xfrm rot="0" flipH="0" flipV="0">
          <a:off x="381000" y="1495425"/>
          <a:ext cx="4953000" cy="3848100"/>
        </p:xfrm>
        <a:graphic>
          <a:graphicData uri="http://schemas.openxmlformats.org/drawingml/2006/table">
            <a:tbl>
              <a:tblGrid>
                <a:gridCol w="1021773">
                  <a:extLst>
                    <a:ext uri="{9D8B030D-6E8A-4147-A177-3AD203B41FA5}">
                      <a16:colId val="1"/>
                    </a:ext>
                  </a:extLst>
                </a:gridCol>
                <a:gridCol w="978477">
                  <a:extLst>
                    <a:ext uri="{9D8B030D-6E8A-4147-A177-3AD203B41FA5}">
                      <a16:colId val="2"/>
                    </a:ext>
                  </a:extLst>
                </a:gridCol>
                <a:gridCol w="978477">
                  <a:extLst>
                    <a:ext uri="{9D8B030D-6E8A-4147-A177-3AD203B41FA5}">
                      <a16:colId val="3"/>
                    </a:ext>
                  </a:extLst>
                </a:gridCol>
                <a:gridCol w="1974273">
                  <a:extLst>
                    <a:ext uri="{9D8B030D-6E8A-4147-A177-3AD203B41FA5}">
                      <a16:colId val="4"/>
                    </a:ext>
                  </a:extLst>
                </a:gridCol>
              </a:tblGrid>
              <a:tr h="427567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A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B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C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输出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427567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8B97A8"/>
                          </a:solidFill>
                          <a:latin typeface="Microsoft YaHei"/>
                          <a:ea typeface="Microsoft YaHei"/>
                        </a:rPr>
                        <a:t>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427567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1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8B97A8"/>
                          </a:solidFill>
                          <a:latin typeface="Microsoft YaHei"/>
                          <a:ea typeface="Microsoft YaHei"/>
                        </a:rPr>
                        <a:t>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427567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1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8B97A8"/>
                          </a:solidFill>
                          <a:latin typeface="Microsoft YaHei"/>
                          <a:ea typeface="Microsoft YaHei"/>
                        </a:rPr>
                        <a:t>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427567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1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1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1E4FA8"/>
                          </a:solidFill>
                          <a:latin typeface="Microsoft YaHei"/>
                          <a:ea typeface="Microsoft YaHei"/>
                        </a:rPr>
                        <a:t>1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FF8"/>
                    </a:solidFill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  <a:tr h="427567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1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8B97A8"/>
                          </a:solidFill>
                          <a:latin typeface="Microsoft YaHei"/>
                          <a:ea typeface="Microsoft YaHei"/>
                        </a:rPr>
                        <a:t>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6"/>
                  </a:ext>
                </a:extLst>
              </a:tr>
              <a:tr h="427567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1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1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1E4FA8"/>
                          </a:solidFill>
                          <a:latin typeface="Microsoft YaHei"/>
                          <a:ea typeface="Microsoft YaHei"/>
                        </a:rPr>
                        <a:t>1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FF8"/>
                    </a:solidFill>
                  </a:tcPr>
                </a:tc>
                <a:extLst>
                  <a:ext uri="{0D108BD9-81ED-4DB2-BD59-A6C34878D82A}">
                    <a16:rowId val="7"/>
                  </a:ext>
                </a:extLst>
              </a:tr>
              <a:tr h="427567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1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1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1E4FA8"/>
                          </a:solidFill>
                          <a:latin typeface="Microsoft YaHei"/>
                          <a:ea typeface="Microsoft YaHei"/>
                        </a:rPr>
                        <a:t>1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FF8"/>
                    </a:solidFill>
                  </a:tcPr>
                </a:tc>
                <a:extLst>
                  <a:ext uri="{0D108BD9-81ED-4DB2-BD59-A6C34878D82A}">
                    <a16:rowId val="8"/>
                  </a:ext>
                </a:extLst>
              </a:tr>
              <a:tr h="427567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1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1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1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1E4FA8"/>
                          </a:solidFill>
                          <a:latin typeface="Microsoft YaHei"/>
                          <a:ea typeface="Microsoft YaHei"/>
                        </a:rPr>
                        <a:t>1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FF8"/>
                    </a:solidFill>
                  </a:tcPr>
                </a:tc>
                <a:extLst>
                  <a:ext uri="{0D108BD9-81ED-4DB2-BD59-A6C34878D82A}">
                    <a16:rowId val="9"/>
                  </a:ext>
                </a:extLst>
              </a:tr>
            </a:tbl>
          </a:graphicData>
        </a:graphic>
      </p:graphicFrame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5905500" y="1200150"/>
            <a:ext cx="5905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75">
                <a:solidFill>
                  <a:srgbClr val="8B97A8"/>
                </a:solidFill>
                <a:latin typeface="Microsoft YaHei"/>
                <a:ea typeface="Microsoft YaHei"/>
              </a:rPr>
              <a:t>BOOLEAN EXPRESSION</a:t>
            </a:r>
            <a:endParaRPr/>
          </a:p>
        </p:txBody>
      </p:sp>
      <p:sp>
        <p:nvSpPr>
          <p:cNvPr id="223" name=""/>
          <p:cNvSpPr/>
          <p:nvPr/>
        </p:nvSpPr>
        <p:spPr>
          <a:xfrm rot="0" flipH="0" flipV="0">
            <a:off x="5905500" y="1457325"/>
            <a:ext cx="5905500" cy="1181100"/>
          </a:xfrm>
          <a:prstGeom prst="roundRect">
            <a:avLst>
              <a:gd name="adj" fmla="val 6452"/>
            </a:avLst>
          </a:prstGeom>
          <a:solidFill>
            <a:srgbClr val="F0F5FC"/>
          </a:solidFill>
          <a:ln w="12700">
            <a:solidFill>
              <a:srgbClr val="C7D8EF"/>
            </a:solidFill>
            <a:prstDash val="solid"/>
          </a:ln>
        </p:spPr>
        <p:txBody>
          <a:bodyPr/>
          <a:p/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6153150" y="1666875"/>
            <a:ext cx="5410200" cy="4381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850" b="1">
                <a:solidFill>
                  <a:srgbClr val="0E3F8C"/>
                </a:solidFill>
                <a:latin typeface="Microsoft YaHei"/>
                <a:ea typeface="Microsoft YaHei"/>
              </a:rPr>
              <a:t>Y = AB + AC + BC</a:t>
            </a:r>
            <a:endParaRPr/>
          </a:p>
        </p:txBody>
      </p:sp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6153150" y="2200275"/>
            <a:ext cx="54102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等价写法：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Y = AB + C(A + B)</a:t>
            </a:r>
            <a:endParaRPr/>
          </a:p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5905500" y="2886075"/>
            <a:ext cx="5905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A2230"/>
                </a:solidFill>
                <a:latin typeface="Microsoft YaHei"/>
                <a:ea typeface="Microsoft YaHei"/>
              </a:rPr>
              <a:t>为什么这个定义适合课程设计</a:t>
            </a:r>
            <a:endParaRPr/>
          </a:p>
        </p:txBody>
      </p:sp>
      <p:sp>
        <p:nvSpPr>
          <p:cNvPr id="227" name=""/>
          <p:cNvSpPr/>
          <p:nvPr/>
        </p:nvSpPr>
        <p:spPr>
          <a:xfrm rot="0" flipH="0" flipV="0">
            <a:off x="5905500" y="3228975"/>
            <a:ext cx="38100" cy="523875"/>
          </a:xfrm>
          <a:prstGeom prst="roundRect">
            <a:avLst>
              <a:gd name="adj" fmla="val 50000"/>
            </a:avLst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6076950" y="3228975"/>
            <a:ext cx="5334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E3F8C"/>
                </a:solidFill>
                <a:latin typeface="Microsoft YaHei"/>
                <a:ea typeface="Microsoft YaHei"/>
              </a:rPr>
              <a:t>可穷举</a:t>
            </a:r>
            <a:endParaRPr/>
          </a:p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6076950" y="3457575"/>
            <a:ext cx="53340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只有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8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种输入组合，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"8/8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正确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是可证伪的硬指标，不依赖主观判断。</a:t>
            </a:r>
            <a:endParaRPr/>
          </a:p>
        </p:txBody>
      </p:sp>
      <p:sp>
        <p:nvSpPr>
          <p:cNvPr id="230" name=""/>
          <p:cNvSpPr/>
          <p:nvPr/>
        </p:nvSpPr>
        <p:spPr>
          <a:xfrm rot="0" flipH="0" flipV="0">
            <a:off x="5905500" y="3886200"/>
            <a:ext cx="38100" cy="523875"/>
          </a:xfrm>
          <a:prstGeom prst="roundRect">
            <a:avLst>
              <a:gd name="adj" fmla="val 50000"/>
            </a:avLst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6076950" y="3886200"/>
            <a:ext cx="5334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E3F8C"/>
                </a:solidFill>
                <a:latin typeface="Microsoft YaHei"/>
                <a:ea typeface="Microsoft YaHei"/>
              </a:rPr>
              <a:t>有语义</a:t>
            </a:r>
            <a:endParaRPr/>
          </a:p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6076950" y="4114800"/>
            <a:ext cx="53340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三取二对应细胞抗噪决策；单路波动不会误触发，这正是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投票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与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或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的差别。</a:t>
            </a:r>
            <a:endParaRPr/>
          </a:p>
        </p:txBody>
      </p:sp>
      <p:sp>
        <p:nvSpPr>
          <p:cNvPr id="233" name=""/>
          <p:cNvSpPr/>
          <p:nvPr/>
        </p:nvSpPr>
        <p:spPr>
          <a:xfrm rot="0" flipH="0" flipV="0">
            <a:off x="5905500" y="4543425"/>
            <a:ext cx="38100" cy="819150"/>
          </a:xfrm>
          <a:prstGeom prst="roundRect">
            <a:avLst>
              <a:gd name="adj" fmla="val 50000"/>
            </a:avLst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6076950" y="4543425"/>
            <a:ext cx="5334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E3F8C"/>
                </a:solidFill>
                <a:latin typeface="Microsoft YaHei"/>
                <a:ea typeface="Microsoft YaHei"/>
              </a:rPr>
              <a:t>有基准</a:t>
            </a:r>
            <a:endParaRPr/>
          </a:p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6076950" y="4772025"/>
            <a:ext cx="53340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Cello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官方测试库含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majority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电路（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assignment A000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），可与官方结果对照。</a:t>
            </a:r>
            <a:endParaRPr/>
          </a:p>
        </p:txBody>
      </p:sp>
      <p:sp>
        <p:nvSpPr>
          <p:cNvPr id="236" name="" descr="{&quot;isTemplate&quot;:true,&quot;type&quot;:&quot;text&quot;}"/>
          <p:cNvSpPr txBox="1"/>
          <p:nvPr/>
        </p:nvSpPr>
        <p:spPr>
          <a:xfrm rot="0" flipH="0" flipV="0">
            <a:off x="381000" y="6400800"/>
            <a:ext cx="3048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《合成生物学》课程设计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三输入多数表决基因线路</a:t>
            </a:r>
            <a:endParaRPr/>
          </a:p>
        </p:txBody>
      </p:sp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113538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E4FA8"/>
                </a:solidFill>
                <a:latin typeface="Microsoft YaHei"/>
                <a:ea typeface="Microsoft YaHei"/>
              </a:rPr>
              <a:t>04 / 13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 xmlns:a16="http://schemas.microsoft.com/office/drawing/2014/main" xmlns:mc="http://schemas.openxmlformats.org/markup-compatibility/2006" mc:Ignorable="a16">
  <p:cSld>
    <p:spTree>
      <p:nvGrpSpPr>
        <p:cNvPr id="238" name="" descr="&lt;Slide style={{ width: 1280, height: 720, background: '#FFFFFF', fontFamily: 'Microsoft YaHei', position: 'relative' }}&gt;&#10;    &lt;Box style={{ position: 'absolute', left: 0, top: 0, width: 1280, height: 6, background: '#0E3F8C' }} /&gt;&#10;    &lt;Box style={{ position: 'absolute', left: 40, top: 34, width: 1200, flexDirection: 'row', alignItems: 'flex-end', justifyContent: 'space-between' }}&gt;&#10;        &lt;Box style={{ flexDirection: 'row', alignItems: 'center', gap: 14 }}&gt;&#10;            &lt;Box style={{ width: 6, height: 32, background: '#1E4FA8' }} /&gt;&#10;            &lt;Text style={{ fontSize: 32, fontWeight: 'bold', color: '#0E3F8C' }}&gt;设计方法：把逻辑交给工具，把参数留给证据&lt;/Text&gt;&#10;        &lt;/Box&gt;&#10;        &lt;Text style={{ fontSize: 14, color: '#8B97A8' }}&gt;02　设计与布线&lt;/Text&gt;&#10;    &lt;/Box&gt;&#10;    &lt;Box style={{ position: 'absolute', left: 40, top: 92, width: 1200, height: 1, background: '#D6DCE5' }} /&gt;&#10;&#10;    &lt;Box style={{ position: 'absolute', left: 40, top: 122, flexDirection: 'row', gap: 16 }}&gt;&#10;        {[&#10;            { n: '01', t: 'Verilog 需求', d: '穷举 8 种输入' },&#10;            { n: '02', t: 'Yosys 综合', d: '转门级网表' },&#10;            { n: '03', t: '门库分配', d: 'UCF 约束搜索' },&#10;            { n: '04', t: '响应函数评估', d: '预测 ON/OFF' },&#10;        ].map((s, i) =&gt; (&#10;            &lt;Box style={{ width: 284, height: 92, background: i === 3 ? '#1E4FA8' : '#F0F5FC', border: i === 3 ? 'none' : '1px solid #C7D8EF', borderRadius: 8, padding: 16 }}&gt;&#10;                &lt;Text style={{ fontSize: 13, color: i === 3 ? '#A9C3E8' : '#8B97A8', letterSpacing: 1 }}&gt;STEP {s.n}&lt;/Text&gt;&#10;                &lt;Text style={{ fontSize: 20, color: i === 3 ? '#FFFFFF' : '#0E3F8C', fontWeight: 'bold', marginTop: 2 }}&gt;{s.t}&lt;/Text&gt;&#10;                &lt;Text style={{ fontSize: 14, color: i === 3 ? '#D5E3F6' : '#4A5568', marginTop: 2 }}&gt;{s.d}&lt;/Text&gt;&#10;            &lt;/Box&gt;&#10;        ))}&#10;    &lt;/Box&gt;&#10;&#10;    &lt;Box style={{ position: 'absolute', left: 40, top: 242, width: 470 }}&gt;&#10;        &lt;Text style={{ fontSize: 14, color: '#8B97A8', letterSpacing: 1 }}&gt;GATE LIBRARY&lt;/Text&gt;&#10;        &lt;Text style={{ fontSize: 24, color: '#0E3F8C', fontWeight: 'bold', marginTop: 4 }}&gt;Eco1C1G1T1&lt;/Text&gt;&#10;        &lt;Text style={{ fontSize: 17, color: '#1A2230', lineHeight: 1.75, marginTop: 10 }}&gt;&#10;            20 个 NOR 门，来自 6 个阻遏蛋白家族（AmtR、BM3R1、BetI、HlyIIR、PhlF、SrpR）。每个门都带实测 Hill 响应函数：&#10;        &lt;/Text&gt;&#10;        &lt;Box style={{ marginTop: 12, padding: 14, background: '#F7F9FC', border: '1px solid #D6DCE5', borderRadius: 6 }}&gt;&#10;            &lt;Text style={{ fontSize: 18, color: '#0E3F8C' }}&gt;y = ymin + (ymax − ymin) / (1 + (x/K)ⁿ)&lt;/Text&gt;&#10;        &lt;/Box&gt;&#10;        &lt;Text style={{ fontSize: 16, color: '#4A5568', lineHeight: 1.7, marginTop: 12 }}&gt;&#10;            关键细节：库里&lt;span style={{ fontWeight: 'bold', color: '#0E3F8C' }}&gt;只有 NOR 部件&lt;/span&gt;，没有独立的 NOT 与 OR。NOT 由一输入接 0 的 NOR 实现，OR 由 NOR 再取非——用有限标准元件组合出复杂功能。&#10;        &lt;/Text&gt;&#10;        &lt;Box style={{ marginTop: 14, padding: 12, background: '#F0F5FC', borderLeft: '3px solid #1E4FA8' }}&gt;&#10;            &lt;Text style={{ fontSize: 15, color: '#4A5568', lineHeight: 1.55 }}&gt;&#10;                这条约束决定了后面的建模方式：所有门都用 NOR 的响应函数描述。&#10;            &lt;/Text&gt;&#10;        &lt;/Box&gt;&#10;    &lt;/Box&gt;&#10;&#10;    &lt;Box style={{ position: 'absolute', left: 550, top: 242, width: 690 }}&gt;&#10;        &lt;Text style={{ fontSize: 17, color: '#4A5568', marginBottom: 8 }}&gt;本设计使用的 6 个门（参数直接读取自官方文件，未做手工调整）&lt;/Text&gt;&#10;        &lt;Table&#10;            style={{ width: 690, height: 372 }}&#10;            defaultTextStyle={{ fontSize: 15, textAlign: 'center', color: '#1A2230' }}&#10;            defaultCellStyle={{ border: { left: { width: 1, color: '#D6DCE5' }, right: { width: 1, color: '#D6DCE5' }, top: { width: 1, color: '#D6DCE5' }, bottom: { width: 1, color: '#D6DCE5' } } }}&#10;            cells={[&#10;                [&#10;                    { text: '门', textStyle: { bold: true, color: '#FFFFFF' }, cellStyle: { background: { color: '#0E3F8C' } } },&#10;                    { text: '角色', textStyle: { bold: true, color: '#FFFFFF' }, cellStyle: { background: { color: '#0E3F8C' } } },&#10;                    { text: 'ymin', textStyle: { bold: true, color: '#FFFFFF' }, cellStyle: { background: { color: '#0E3F8C' } } },&#10;                    { text: 'ymax', textStyle: { bold: true, color: '#FFFFFF' }, cellStyle: { background: { color: '#0E3F8C' } } },&#10;                    { text: 'K', textStyle: { bold: true, color: '#FFFFFF' }, cellStyle: { background: { color: '#0E3F8C' } } },&#10;                    { text: 'n', textStyle: { bold: true, color: '#FFFFFF' }, cellStyle: { background: { color: '#0E3F8C' } } },&#10;                ],&#10;                ['A1_AmtR', 'NOT', '0.060', '3.80', '0.070', '1.60'],&#10;                ['S2_SrpR', 'NOT', '0.003', '2.10', '0.040', '2.60'],&#10;                ['H1_HlyIIR', 'NOT', '0.070', '2.50', '0.190', '2.60'],&#10;                ['B3_BM3R1', 'NOR', '0.010', '0.80', '0.260', '3.40'],&#10;                ['E1_BetI', 'NOR', '0.070', '3.80', '0.410', '2.40'],&#10;                ['P3_PhlF', 'NOR', '0.020', '6.80', '0.230', '4.20'],&#10;            ]}&#10;        /&gt;&#10;        &lt;Text style={{ fontSize: 14, color: '#8B97A8', marginTop: 8 }}&gt;&#10;            来源：Cello 官方门库 Eco1C1G1T1.UCF.json（response_functions 字段）&#10;        &lt;/Text&gt;&#10;    &lt;/Box&gt;&#10;&#10;    &lt;Box style={{ position: 'absolute', left: 40, top: 672, width: 1200, flexDirection: 'row', justifyContent: 'space-between' }}&gt;&#10;        &lt;Text style={{ fontSize: 14, color: '#8B97A8' }}&gt;《合成生物学》课程设计 · 三输入多数表决基因线路&lt;/Text&gt;&#10;        &lt;Text style={{ fontSize: 14, color: '#1E4FA8' }}&gt;05 / 13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40" name=""/>
          <p:cNvSpPr/>
          <p:nvPr/>
        </p:nvSpPr>
        <p:spPr>
          <a:xfrm rot="0" flipH="0" flipV="0">
            <a:off x="0" y="0"/>
            <a:ext cx="12192000" cy="5715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41" name=""/>
          <p:cNvSpPr/>
          <p:nvPr/>
        </p:nvSpPr>
        <p:spPr>
          <a:xfrm rot="0" flipH="0" flipV="0">
            <a:off x="381000" y="361950"/>
            <a:ext cx="57150" cy="304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571500" y="323850"/>
            <a:ext cx="60960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E3F8C"/>
                </a:solidFill>
                <a:latin typeface="Microsoft YaHei"/>
                <a:ea typeface="Microsoft YaHei"/>
              </a:rPr>
              <a:t>设计方法：把逻辑交给工具，把参数留给证据</a:t>
            </a:r>
            <a:endParaRPr/>
          </a:p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10848975" y="533400"/>
            <a:ext cx="9620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02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　设计与布线</a:t>
            </a:r>
            <a:endParaRPr/>
          </a:p>
        </p:txBody>
      </p:sp>
      <p:sp>
        <p:nvSpPr>
          <p:cNvPr id="244" name=""/>
          <p:cNvSpPr/>
          <p:nvPr/>
        </p:nvSpPr>
        <p:spPr>
          <a:xfrm rot="0" flipH="0" flipV="0">
            <a:off x="381000" y="876300"/>
            <a:ext cx="11430000" cy="9525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245" name=""/>
          <p:cNvSpPr/>
          <p:nvPr/>
        </p:nvSpPr>
        <p:spPr>
          <a:xfrm rot="0" flipH="0" flipV="0">
            <a:off x="381000" y="1162050"/>
            <a:ext cx="2705100" cy="876300"/>
          </a:xfrm>
          <a:prstGeom prst="roundRect">
            <a:avLst>
              <a:gd name="adj" fmla="val 8696"/>
            </a:avLst>
          </a:prstGeom>
          <a:solidFill>
            <a:srgbClr val="F0F5FC"/>
          </a:solidFill>
          <a:ln w="12700">
            <a:solidFill>
              <a:srgbClr val="C7D8EF"/>
            </a:solidFill>
            <a:prstDash val="solid"/>
          </a:ln>
        </p:spPr>
        <p:txBody>
          <a:bodyPr/>
          <a:p/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533400" y="1314450"/>
            <a:ext cx="2400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75">
                <a:solidFill>
                  <a:srgbClr val="8B97A8"/>
                </a:solidFill>
                <a:latin typeface="Microsoft YaHei"/>
                <a:ea typeface="Microsoft YaHei"/>
              </a:rPr>
              <a:t xml:space="preserve">STEP </a:t>
            </a:r>
            <a:r>
              <a:rPr lang="en-US" sz="975" spc="75">
                <a:solidFill>
                  <a:srgbClr val="8B97A8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533400" y="1485900"/>
            <a:ext cx="24003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Verilog </a:t>
            </a:r>
            <a:r>
              <a:rPr lang="zh-CN" sz="1500" b="1">
                <a:solidFill>
                  <a:srgbClr val="0E3F8C"/>
                </a:solidFill>
                <a:latin typeface="Microsoft YaHei"/>
                <a:ea typeface="Microsoft YaHei"/>
              </a:rPr>
              <a:t>需求</a:t>
            </a:r>
            <a:endParaRPr/>
          </a:p>
        </p:txBody>
      </p:sp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533400" y="1733550"/>
            <a:ext cx="2400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穷举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 xml:space="preserve"> 8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种输入</a:t>
            </a:r>
            <a:endParaRPr/>
          </a:p>
        </p:txBody>
      </p:sp>
      <p:sp>
        <p:nvSpPr>
          <p:cNvPr id="249" name=""/>
          <p:cNvSpPr/>
          <p:nvPr/>
        </p:nvSpPr>
        <p:spPr>
          <a:xfrm rot="0" flipH="0" flipV="0">
            <a:off x="3238500" y="1162050"/>
            <a:ext cx="2705100" cy="876300"/>
          </a:xfrm>
          <a:prstGeom prst="roundRect">
            <a:avLst>
              <a:gd name="adj" fmla="val 8696"/>
            </a:avLst>
          </a:prstGeom>
          <a:solidFill>
            <a:srgbClr val="F0F5FC"/>
          </a:solidFill>
          <a:ln w="12700">
            <a:solidFill>
              <a:srgbClr val="C7D8EF"/>
            </a:solidFill>
            <a:prstDash val="solid"/>
          </a:ln>
        </p:spPr>
        <p:txBody>
          <a:bodyPr/>
          <a:p/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3390900" y="1314450"/>
            <a:ext cx="2400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75">
                <a:solidFill>
                  <a:srgbClr val="8B97A8"/>
                </a:solidFill>
                <a:latin typeface="Microsoft YaHei"/>
                <a:ea typeface="Microsoft YaHei"/>
              </a:rPr>
              <a:t xml:space="preserve">STEP </a:t>
            </a:r>
            <a:r>
              <a:rPr lang="en-US" sz="975" spc="75">
                <a:solidFill>
                  <a:srgbClr val="8B97A8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3390900" y="1485900"/>
            <a:ext cx="24003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Yosys </a:t>
            </a:r>
            <a:r>
              <a:rPr lang="zh-CN" sz="1500" b="1">
                <a:solidFill>
                  <a:srgbClr val="0E3F8C"/>
                </a:solidFill>
                <a:latin typeface="Microsoft YaHei"/>
                <a:ea typeface="Microsoft YaHei"/>
              </a:rPr>
              <a:t>综合</a:t>
            </a:r>
            <a:endParaRPr/>
          </a:p>
        </p:txBody>
      </p:sp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3390900" y="1733550"/>
            <a:ext cx="2400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转门级网表</a:t>
            </a:r>
            <a:endParaRPr/>
          </a:p>
        </p:txBody>
      </p:sp>
      <p:sp>
        <p:nvSpPr>
          <p:cNvPr id="253" name=""/>
          <p:cNvSpPr/>
          <p:nvPr/>
        </p:nvSpPr>
        <p:spPr>
          <a:xfrm rot="0" flipH="0" flipV="0">
            <a:off x="6096000" y="1162050"/>
            <a:ext cx="2705100" cy="876300"/>
          </a:xfrm>
          <a:prstGeom prst="roundRect">
            <a:avLst>
              <a:gd name="adj" fmla="val 8696"/>
            </a:avLst>
          </a:prstGeom>
          <a:solidFill>
            <a:srgbClr val="F0F5FC"/>
          </a:solidFill>
          <a:ln w="12700">
            <a:solidFill>
              <a:srgbClr val="C7D8EF"/>
            </a:solidFill>
            <a:prstDash val="solid"/>
          </a:ln>
        </p:spPr>
        <p:txBody>
          <a:bodyPr/>
          <a:p/>
        </p:txBody>
      </p:sp>
      <p:sp>
        <p:nvSpPr>
          <p:cNvPr id="254" name="" descr="{&quot;isTemplate&quot;:true,&quot;type&quot;:&quot;text&quot;}"/>
          <p:cNvSpPr txBox="1"/>
          <p:nvPr/>
        </p:nvSpPr>
        <p:spPr>
          <a:xfrm rot="0" flipH="0" flipV="0">
            <a:off x="6248400" y="1314450"/>
            <a:ext cx="2400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75">
                <a:solidFill>
                  <a:srgbClr val="8B97A8"/>
                </a:solidFill>
                <a:latin typeface="Microsoft YaHei"/>
                <a:ea typeface="Microsoft YaHei"/>
              </a:rPr>
              <a:t xml:space="preserve">STEP </a:t>
            </a:r>
            <a:r>
              <a:rPr lang="en-US" sz="975" spc="75">
                <a:solidFill>
                  <a:srgbClr val="8B97A8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255" name="" descr="{&quot;isTemplate&quot;:true,&quot;type&quot;:&quot;text&quot;}"/>
          <p:cNvSpPr txBox="1"/>
          <p:nvPr/>
        </p:nvSpPr>
        <p:spPr>
          <a:xfrm rot="0" flipH="0" flipV="0">
            <a:off x="6248400" y="1485900"/>
            <a:ext cx="24003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E3F8C"/>
                </a:solidFill>
                <a:latin typeface="Microsoft YaHei"/>
                <a:ea typeface="Microsoft YaHei"/>
              </a:rPr>
              <a:t>门库分配</a:t>
            </a:r>
            <a:endParaRPr/>
          </a:p>
        </p:txBody>
      </p:sp>
      <p:sp>
        <p:nvSpPr>
          <p:cNvPr id="256" name="" descr="{&quot;isTemplate&quot;:true,&quot;type&quot;:&quot;text&quot;}"/>
          <p:cNvSpPr txBox="1"/>
          <p:nvPr/>
        </p:nvSpPr>
        <p:spPr>
          <a:xfrm rot="0" flipH="0" flipV="0">
            <a:off x="6248400" y="1733550"/>
            <a:ext cx="2400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 xml:space="preserve">UCF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约束搜索</a:t>
            </a:r>
            <a:endParaRPr/>
          </a:p>
        </p:txBody>
      </p:sp>
      <p:sp>
        <p:nvSpPr>
          <p:cNvPr id="257" name=""/>
          <p:cNvSpPr/>
          <p:nvPr/>
        </p:nvSpPr>
        <p:spPr>
          <a:xfrm rot="0" flipH="0" flipV="0">
            <a:off x="8953500" y="1162050"/>
            <a:ext cx="2705100" cy="876300"/>
          </a:xfrm>
          <a:prstGeom prst="roundRect">
            <a:avLst>
              <a:gd name="adj" fmla="val 8696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9105900" y="1314450"/>
            <a:ext cx="2400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75">
                <a:solidFill>
                  <a:srgbClr val="A9C3E8"/>
                </a:solidFill>
                <a:latin typeface="Microsoft YaHei"/>
                <a:ea typeface="Microsoft YaHei"/>
              </a:rPr>
              <a:t xml:space="preserve">STEP </a:t>
            </a:r>
            <a:r>
              <a:rPr lang="en-US" sz="975" spc="75">
                <a:solidFill>
                  <a:srgbClr val="A9C3E8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259" name="" descr="{&quot;isTemplate&quot;:true,&quot;type&quot;:&quot;text&quot;}"/>
          <p:cNvSpPr txBox="1"/>
          <p:nvPr/>
        </p:nvSpPr>
        <p:spPr>
          <a:xfrm rot="0" flipH="0" flipV="0">
            <a:off x="9105900" y="1485900"/>
            <a:ext cx="24003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响应函数评估</a:t>
            </a:r>
            <a:endParaRPr/>
          </a:p>
        </p:txBody>
      </p:sp>
      <p:sp>
        <p:nvSpPr>
          <p:cNvPr id="260" name="" descr="{&quot;isTemplate&quot;:true,&quot;type&quot;:&quot;text&quot;}"/>
          <p:cNvSpPr txBox="1"/>
          <p:nvPr/>
        </p:nvSpPr>
        <p:spPr>
          <a:xfrm rot="0" flipH="0" flipV="0">
            <a:off x="9105900" y="1733550"/>
            <a:ext cx="2400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D5E3F6"/>
                </a:solidFill>
                <a:latin typeface="Microsoft YaHei"/>
                <a:ea typeface="Microsoft YaHei"/>
              </a:rPr>
              <a:t>预测</a:t>
            </a:r>
            <a:r>
              <a:rPr lang="en-US" sz="1050">
                <a:solidFill>
                  <a:srgbClr val="D5E3F6"/>
                </a:solidFill>
                <a:latin typeface="Microsoft YaHei"/>
                <a:ea typeface="Microsoft YaHei"/>
              </a:rPr>
              <a:t xml:space="preserve"> ON/OFF</a:t>
            </a:r>
            <a:endParaRPr/>
          </a:p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381000" y="2305050"/>
            <a:ext cx="4476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75">
                <a:solidFill>
                  <a:srgbClr val="8B97A8"/>
                </a:solidFill>
                <a:latin typeface="Microsoft YaHei"/>
                <a:ea typeface="Microsoft YaHei"/>
              </a:rPr>
              <a:t>GATE LIBRARY</a:t>
            </a:r>
            <a:endParaRPr/>
          </a:p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381000" y="2505075"/>
            <a:ext cx="44767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0E3F8C"/>
                </a:solidFill>
                <a:latin typeface="Microsoft YaHei"/>
                <a:ea typeface="Microsoft YaHei"/>
              </a:rPr>
              <a:t>Eco1C1G1T1</a:t>
            </a:r>
            <a:endParaRPr/>
          </a:p>
        </p:txBody>
      </p:sp>
      <p:sp>
        <p:nvSpPr>
          <p:cNvPr id="263" name="" descr="{&quot;isTemplate&quot;:true,&quot;type&quot;:&quot;text&quot;}"/>
          <p:cNvSpPr txBox="1"/>
          <p:nvPr/>
        </p:nvSpPr>
        <p:spPr>
          <a:xfrm rot="0" flipH="0" flipV="0">
            <a:off x="381000" y="2876550"/>
            <a:ext cx="4476750" cy="1028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 xml:space="preserve">20 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个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 xml:space="preserve"> NOR 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门，来自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 xml:space="preserve"> 6 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个阻遏蛋白家族（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>AmtR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、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>BM3R1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、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>BetI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、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>HlyIIR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、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>PhlF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、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>SrpR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）。每个门都带实测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 xml:space="preserve"> Hill 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响应函数：</a:t>
            </a:r>
            <a:endParaRPr/>
          </a:p>
        </p:txBody>
      </p:sp>
      <p:sp>
        <p:nvSpPr>
          <p:cNvPr id="264" name=""/>
          <p:cNvSpPr/>
          <p:nvPr/>
        </p:nvSpPr>
        <p:spPr>
          <a:xfrm rot="0" flipH="0" flipV="0">
            <a:off x="381000" y="4019550"/>
            <a:ext cx="4476750" cy="476250"/>
          </a:xfrm>
          <a:prstGeom prst="roundRect">
            <a:avLst>
              <a:gd name="adj" fmla="val 12000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65" name="" descr="{&quot;isTemplate&quot;:true,&quot;type&quot;:&quot;text&quot;}"/>
          <p:cNvSpPr txBox="1"/>
          <p:nvPr/>
        </p:nvSpPr>
        <p:spPr>
          <a:xfrm rot="0" flipH="0" flipV="0">
            <a:off x="514350" y="4152900"/>
            <a:ext cx="42100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0E3F8C"/>
                </a:solidFill>
                <a:latin typeface="Microsoft YaHei"/>
                <a:ea typeface="Microsoft YaHei"/>
              </a:rPr>
              <a:t>y = ymin + (ymax − ymin) / (1 + (x/K)ⁿ)</a:t>
            </a:r>
            <a:endParaRPr/>
          </a:p>
        </p:txBody>
      </p:sp>
      <p:sp>
        <p:nvSpPr>
          <p:cNvPr id="266" name="" descr="{&quot;isTemplate&quot;:true,&quot;type&quot;:&quot;text&quot;}"/>
          <p:cNvSpPr txBox="1"/>
          <p:nvPr/>
        </p:nvSpPr>
        <p:spPr>
          <a:xfrm rot="0" flipH="0" flipV="0">
            <a:off x="381000" y="4610100"/>
            <a:ext cx="4476750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关键细节：库里</a:t>
            </a:r>
            <a:r>
              <a:rPr lang="zh-CN" sz="1200" b="1">
                <a:solidFill>
                  <a:srgbClr val="0E3F8C"/>
                </a:solidFill>
                <a:latin typeface="Microsoft YaHei"/>
                <a:ea typeface="Microsoft YaHei"/>
              </a:rPr>
              <a:t>只有</a:t>
            </a:r>
            <a:r>
              <a:rPr lang="en-US" sz="1200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 NOR </a:t>
            </a:r>
            <a:r>
              <a:rPr lang="zh-CN" sz="1200" b="1">
                <a:solidFill>
                  <a:srgbClr val="0E3F8C"/>
                </a:solidFill>
                <a:latin typeface="Microsoft YaHei"/>
                <a:ea typeface="Microsoft YaHei"/>
              </a:rPr>
              <a:t>部件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，没有独立的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NOT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与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OR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。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NOT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由一输入接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0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的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NOR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实现，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OR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由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NOR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再取非——用有限标准元件组合出复杂功能。</a:t>
            </a:r>
            <a:endParaRPr/>
          </a:p>
        </p:txBody>
      </p:sp>
      <p:sp>
        <p:nvSpPr>
          <p:cNvPr id="267" name=""/>
          <p:cNvSpPr/>
          <p:nvPr/>
        </p:nvSpPr>
        <p:spPr>
          <a:xfrm rot="0" flipH="0" flipV="0">
            <a:off x="409575" y="5676900"/>
            <a:ext cx="4476750" cy="762000"/>
          </a:xfrm>
          <a:prstGeom prst="rect">
            <a:avLst/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268" name=""/>
          <p:cNvSpPr/>
          <p:nvPr/>
        </p:nvSpPr>
        <p:spPr>
          <a:xfrm rot="0" flipH="0" flipV="0">
            <a:off x="381000" y="5676900"/>
            <a:ext cx="4505325" cy="762000"/>
          </a:xfrm>
          <a:custGeom>
            <a:pathLst>
              <a:path w="473" h="80">
                <a:moveTo>
                  <a:pt x="0" y="0"/>
                </a:moveTo>
                <a:lnTo>
                  <a:pt x="3" y="0"/>
                </a:lnTo>
                <a:lnTo>
                  <a:pt x="3" y="80"/>
                </a:lnTo>
                <a:lnTo>
                  <a:pt x="0" y="80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269" name="" descr="{&quot;isTemplate&quot;:true,&quot;type&quot;:&quot;text&quot;}"/>
          <p:cNvSpPr txBox="1"/>
          <p:nvPr/>
        </p:nvSpPr>
        <p:spPr>
          <a:xfrm rot="0" flipH="0" flipV="0">
            <a:off x="523875" y="5791200"/>
            <a:ext cx="4219575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这条约束决定了后面的建模方式：所有门都用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NOR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的响应函数描述。</a:t>
            </a:r>
            <a:endParaRPr/>
          </a:p>
        </p:txBody>
      </p:sp>
      <p:sp>
        <p:nvSpPr>
          <p:cNvPr id="270" name="" descr="{&quot;isTemplate&quot;:true,&quot;type&quot;:&quot;text&quot;}"/>
          <p:cNvSpPr txBox="1"/>
          <p:nvPr/>
        </p:nvSpPr>
        <p:spPr>
          <a:xfrm rot="0" flipH="0" flipV="0">
            <a:off x="5238750" y="2305050"/>
            <a:ext cx="6572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本设计使用的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 6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个门（参数直接读取自官方文件，未做手工调整）</a:t>
            </a:r>
            <a:endParaRPr/>
          </a:p>
        </p:txBody>
      </p:sp>
      <p:graphicFrame>
        <p:nvGraphicFramePr>
          <p:cNvPr id="271" name=""/>
          <p:cNvGraphicFramePr/>
          <p:nvPr/>
        </p:nvGraphicFramePr>
        <p:xfrm rot="0" flipH="0" flipV="0">
          <a:off x="5238750" y="2581275"/>
          <a:ext cx="6572250" cy="3543300"/>
        </p:xfrm>
        <a:graphic>
          <a:graphicData uri="http://schemas.openxmlformats.org/drawingml/2006/table">
            <a:tbl>
              <a:tblGrid>
                <a:gridCol w="1780841">
                  <a:extLst>
                    <a:ext uri="{9D8B030D-6E8A-4147-A177-3AD203B41FA5}">
                      <a16:colId val="1"/>
                    </a:ext>
                  </a:extLst>
                </a:gridCol>
                <a:gridCol w="917154">
                  <a:extLst>
                    <a:ext uri="{9D8B030D-6E8A-4147-A177-3AD203B41FA5}">
                      <a16:colId val="2"/>
                    </a:ext>
                  </a:extLst>
                </a:gridCol>
                <a:gridCol w="999410">
                  <a:extLst>
                    <a:ext uri="{9D8B030D-6E8A-4147-A177-3AD203B41FA5}">
                      <a16:colId val="3"/>
                    </a:ext>
                  </a:extLst>
                </a:gridCol>
                <a:gridCol w="1040538">
                  <a:extLst>
                    <a:ext uri="{9D8B030D-6E8A-4147-A177-3AD203B41FA5}">
                      <a16:colId val="4"/>
                    </a:ext>
                  </a:extLst>
                </a:gridCol>
                <a:gridCol w="999410">
                  <a:extLst>
                    <a:ext uri="{9D8B030D-6E8A-4147-A177-3AD203B41FA5}">
                      <a16:colId val="5"/>
                    </a:ext>
                  </a:extLst>
                </a:gridCol>
                <a:gridCol w="834898">
                  <a:extLst>
                    <a:ext uri="{9D8B030D-6E8A-4147-A177-3AD203B41FA5}">
                      <a16:colId val="6"/>
                    </a:ext>
                  </a:extLst>
                </a:gridCol>
              </a:tblGrid>
              <a:tr h="506186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门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角色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ymin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ymax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K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n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506186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A1_AmtR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NOT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0.060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3.80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0.070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1.60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506186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S2_SrpR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NOT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0.003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2.10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0.040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2.60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506186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H1_HlyIIR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NOT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0.070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2.50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0.190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2.60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506186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B3_BM3R1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NOR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0.010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0.80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0.260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3.40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  <a:tr h="506186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E1_BetI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NOR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0.070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3.80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0.410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2.40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6"/>
                  </a:ext>
                </a:extLst>
              </a:tr>
              <a:tr h="506186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P3_PhlF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NOR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0.020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6.80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0.230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4.20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7"/>
                  </a:ext>
                </a:extLst>
              </a:tr>
            </a:tbl>
          </a:graphicData>
        </a:graphic>
      </p:graphicFrame>
      <p:sp>
        <p:nvSpPr>
          <p:cNvPr id="272" name="" descr="{&quot;isTemplate&quot;:true,&quot;type&quot;:&quot;text&quot;}"/>
          <p:cNvSpPr txBox="1"/>
          <p:nvPr/>
        </p:nvSpPr>
        <p:spPr>
          <a:xfrm rot="0" flipH="0" flipV="0">
            <a:off x="5238750" y="6200775"/>
            <a:ext cx="6572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来源：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Cello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官方门库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Eco1C1G1T1.UCF.json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（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response_functions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字段）</a:t>
            </a:r>
            <a:endParaRPr/>
          </a:p>
        </p:txBody>
      </p:sp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381000" y="6400800"/>
            <a:ext cx="3048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《合成生物学》课程设计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三输入多数表决基因线路</a:t>
            </a:r>
            <a:endParaRPr/>
          </a:p>
        </p:txBody>
      </p:sp>
      <p:sp>
        <p:nvSpPr>
          <p:cNvPr id="274" name="" descr="{&quot;isTemplate&quot;:true,&quot;type&quot;:&quot;text&quot;}"/>
          <p:cNvSpPr txBox="1"/>
          <p:nvPr/>
        </p:nvSpPr>
        <p:spPr>
          <a:xfrm rot="0" flipH="0" flipV="0">
            <a:off x="113538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E4FA8"/>
                </a:solidFill>
                <a:latin typeface="Microsoft YaHei"/>
                <a:ea typeface="Microsoft YaHei"/>
              </a:rPr>
              <a:t>05 / 13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275" name="" descr="&lt;Slide style={{ width: 1280, height: 720, background: '#FFFFFF', fontFamily: 'Microsoft YaHei', position: 'relative' }}&gt;&#13;&#10;    &lt;Box style={{ position: 'absolute', left: 0, top: 0, width: 1280, height: 6, background: '#0E3F8C' }} /&gt;&#13;&#10;    &lt;Box style={{ position: 'absolute', left: 40, top: 34, width: 1200, flexDirection: 'row', alignItems: 'flex-end', justifyContent: 'space-between' }}&gt;&#13;&#10;        &lt;Box style={{ flexDirection: 'row', alignItems: 'center', gap: 14 }}&gt;&#13;&#10;            &lt;Box style={{ width: 6, height: 32, background: '#1E4FA8' }} /&gt;&#13;&#10;            &lt;Text style={{ fontSize: 32, fontWeight: 'bold', color: '#0E3F8C' }}&gt;布线结果：三层七门，逻辑可证&lt;/Text&gt;&#13;&#10;        &lt;/Box&gt;&#13;&#10;        &lt;Text style={{ fontSize: 14, color: '#8B97A8' }}&gt;02　设计与布线&lt;/Text&gt;&#13;&#10;    &lt;/Box&gt;&#13;&#10;    &lt;Box style={{ position: 'absolute', left: 40, top: 92, width: 1200, height: 1, background: '#D6DCE5' }} /&gt;&#13;&#10;&#13;&#10;    &lt;Box style={{ position: 'absolute', left: 40, top: 112, width: 720 }}&gt;&#13;&#10;        &lt;Image src=&quot;assets/topology.png&quot; style={{ width: 720, height: 441, objectFit: 'contain' }} /&gt;&#13;&#10;        &lt;Text style={{ fontSize: 13, color: '#8B97A8', textAlign: 'center', marginTop: 4 }}&gt;&#13;&#10;            图 1　Cello 自动布线结果（assignment A000）：三层级联，6 个内部逻辑门 + 1 个输出级&#13;&#10;        &lt;/Text&gt;&#13;&#10;    &lt;/Box&gt;&#13;&#10;&#13;&#10;    &lt;Box style={{ position: 'absolute', left: 790, top: 118, width: 450 }}&gt;&#13;&#10;        &lt;Box style={{ flexDirection: 'row', gap: 10 }}&gt;&#13;&#10;            {[&#13;&#10;                { v: '3', k: '层级' },&#13;&#10;                { v: '7', k: '门模块' },&#13;&#10;                { v: '6', k: '阻遏蛋白' },&#13;&#10;            ].map((s) =&gt; (&#13;&#10;                &lt;Box style={{ flex: 1, background: '#F0F5FC', border: '1px solid #C7D8EF', borderRadius: 6, padding: 12, alignItems: 'center' }}&gt;&#13;&#10;                    &lt;Text style={{ fontSize: 34, color: '#0E3F8C', fontWeight: 'bold' }}&gt;{s.v}&lt;/Text&gt;&#13;&#10;                    &lt;Text style={{ fontSize: 13, color: '#4A5568', marginTop: 2 }}&gt;{s.k}&lt;/Text&gt;&#13;&#10;                &lt;/Box&gt;&#13;&#10;            ))}&#13;&#10;        &lt;/Box&gt;&#13;&#10;&#13;&#10;        &lt;Text style={{ fontSize: 17, color: '#1A2230', fontWeight: 'bold', marginTop: 22 }}&gt;按门逐一展开，验证布尔等价&lt;/Text&gt;&#13;&#10;        &lt;Box style={{ marginTop: 10, padding: 16, background: '#F7F9FC', border: '1px solid #D6DCE5', borderRadius: 6 }}&gt;&#13;&#10;            &lt;Text style={{ fontSize: 17, color: '#1A2230', lineHeight: 1.95 }}&gt;&#13;&#10;                n6 = ¬A　　n5 = ¬B　　n2 = ¬C&#13;&#10;                &lt;br /&gt;&#13;&#10;                n3 = ¬(A ∨ B)&#13;&#10;                &lt;br /&gt;&#13;&#10;                n4 = ¬(n6 ∨ n5) = A ∧ B&#13;&#10;                &lt;br /&gt;&#13;&#10;                n1 = ¬(n2 ∨ n3) = C ∧ (A ∨ B)&#13;&#10;            &lt;/Text&gt;&#13;&#10;        &lt;/Box&gt;&#13;&#10;&#13;&#10;        &lt;Box style={{ marginTop: 16, padding: 14, background: '#E8EFF8', borderLeft: '4px solid #1E4FA8' }}&gt;&#13;&#10;            &lt;Text style={{ fontSize: 17, color: '#0E3F8C', fontWeight: 'bold', lineHeight: 1.6 }}&gt;&#13;&#10;                OUT = n4 ∨ n1 = AB + C(A+B)&#13;&#10;                &lt;br /&gt;&#13;&#10;                ≡ AB + AC + BC　✅ 与目标一致&#13;&#10;            &lt;/Text&gt;&#13;&#10;        &lt;/Box&gt;&#13;&#10;&#13;&#10;        &lt;Text style={{ fontSize: 14, color: '#8B97A8', lineHeight: 1.6, marginTop: 12 }}&gt;&#13;&#10;            这一步不能省：自动工具可能给出&quot;能跑但语义不同&quot;的方案，必须人工复核。&#13;&#10;        &lt;/Text&gt;&#13;&#10;    &lt;/Box&gt;&#13;&#10;&#13;&#10;    &lt;Box style={{ position: 'absolute', left: 40, top: 672, width: 1200, flexDirection: 'row', justifyContent: 'space-between' }}&gt;&#13;&#10;        &lt;Text style={{ fontSize: 14, color: '#8B97A8' }}&gt;《合成生物学》课程设计 · 三输入多数表决基因线路&lt;/Text&gt;&#13;&#10;        &lt;Text style={{ fontSize: 14, color: '#1E4FA8' }}&gt;06 / 13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77" name=""/>
          <p:cNvSpPr/>
          <p:nvPr/>
        </p:nvSpPr>
        <p:spPr>
          <a:xfrm rot="0" flipH="0" flipV="0">
            <a:off x="0" y="0"/>
            <a:ext cx="12192000" cy="5715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78" name=""/>
          <p:cNvSpPr/>
          <p:nvPr/>
        </p:nvSpPr>
        <p:spPr>
          <a:xfrm rot="0" flipH="0" flipV="0">
            <a:off x="381000" y="361950"/>
            <a:ext cx="57150" cy="304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79" name="" descr="{&quot;isTemplate&quot;:true,&quot;type&quot;:&quot;text&quot;}"/>
          <p:cNvSpPr txBox="1"/>
          <p:nvPr/>
        </p:nvSpPr>
        <p:spPr>
          <a:xfrm rot="0" flipH="0" flipV="0">
            <a:off x="571500" y="323850"/>
            <a:ext cx="42672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E3F8C"/>
                </a:solidFill>
                <a:latin typeface="Microsoft YaHei"/>
                <a:ea typeface="Microsoft YaHei"/>
              </a:rPr>
              <a:t>布线结果：三层七门，逻辑可证</a:t>
            </a:r>
            <a:endParaRPr/>
          </a:p>
        </p:txBody>
      </p:sp>
      <p:sp>
        <p:nvSpPr>
          <p:cNvPr id="280" name="" descr="{&quot;isTemplate&quot;:true,&quot;type&quot;:&quot;text&quot;}"/>
          <p:cNvSpPr txBox="1"/>
          <p:nvPr/>
        </p:nvSpPr>
        <p:spPr>
          <a:xfrm rot="0" flipH="0" flipV="0">
            <a:off x="10848975" y="533400"/>
            <a:ext cx="9620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02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　设计与布线</a:t>
            </a:r>
            <a:endParaRPr/>
          </a:p>
        </p:txBody>
      </p:sp>
      <p:sp>
        <p:nvSpPr>
          <p:cNvPr id="281" name=""/>
          <p:cNvSpPr/>
          <p:nvPr/>
        </p:nvSpPr>
        <p:spPr>
          <a:xfrm rot="0" flipH="0" flipV="0">
            <a:off x="381000" y="876300"/>
            <a:ext cx="11430000" cy="9525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pic>
        <p:nvPicPr>
          <p:cNvPr id="282" name=""/>
          <p:cNvPicPr>
            <a:picLocks noChangeAspect="1"/>
          </p:cNvPicPr>
          <p:nvPr/>
        </p:nvPicPr>
        <p:blipFill>
          <a:blip r:embed="rId1"/>
          <a:srcRect l="20" t="0" r="20" b="0"/>
          <a:stretch>
            <a:fillRect/>
          </a:stretch>
        </p:blipFill>
        <p:spPr>
          <a:xfrm rot="0" flipH="0" flipV="0">
            <a:off x="381000" y="1066800"/>
            <a:ext cx="6858000" cy="4200525"/>
          </a:xfrm>
          <a:prstGeom prst="rect">
            <a:avLst/>
          </a:prstGeom>
          <a:ln/>
        </p:spPr>
      </p:pic>
      <p:sp>
        <p:nvSpPr>
          <p:cNvPr id="283" name="" descr="{&quot;isTemplate&quot;:true,&quot;type&quot;:&quot;text&quot;}"/>
          <p:cNvSpPr txBox="1"/>
          <p:nvPr/>
        </p:nvSpPr>
        <p:spPr>
          <a:xfrm rot="0" flipH="0" flipV="0">
            <a:off x="381000" y="5305425"/>
            <a:ext cx="685800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图</a:t>
            </a: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 xml:space="preserve"> 1</a:t>
            </a: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　</a:t>
            </a: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 xml:space="preserve">Cello </a:t>
            </a: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自动布线结果（</a:t>
            </a: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assignment A000</a:t>
            </a: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）：三层级联，</a:t>
            </a: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 xml:space="preserve">6 </a:t>
            </a: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个内部逻辑门</a:t>
            </a: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 xml:space="preserve"> + 1 </a:t>
            </a: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个输出级</a:t>
            </a:r>
            <a:endParaRPr/>
          </a:p>
        </p:txBody>
      </p:sp>
      <p:sp>
        <p:nvSpPr>
          <p:cNvPr id="284" name=""/>
          <p:cNvSpPr/>
          <p:nvPr/>
        </p:nvSpPr>
        <p:spPr>
          <a:xfrm rot="0" flipH="0" flipV="0">
            <a:off x="7524750" y="1123950"/>
            <a:ext cx="1362075" cy="790575"/>
          </a:xfrm>
          <a:prstGeom prst="roundRect">
            <a:avLst>
              <a:gd name="adj" fmla="val 7229"/>
            </a:avLst>
          </a:prstGeom>
          <a:solidFill>
            <a:srgbClr val="F0F5FC"/>
          </a:solidFill>
          <a:ln w="12700">
            <a:solidFill>
              <a:srgbClr val="C7D8EF"/>
            </a:solidFill>
            <a:prstDash val="solid"/>
          </a:ln>
        </p:spPr>
        <p:txBody>
          <a:bodyPr/>
          <a:p/>
        </p:txBody>
      </p:sp>
      <p:sp>
        <p:nvSpPr>
          <p:cNvPr id="285" name="" descr="{&quot;isTemplate&quot;:true,&quot;type&quot;:&quot;text&quot;}"/>
          <p:cNvSpPr txBox="1"/>
          <p:nvPr/>
        </p:nvSpPr>
        <p:spPr>
          <a:xfrm rot="0" flipH="0" flipV="0">
            <a:off x="8105775" y="1238250"/>
            <a:ext cx="2000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0E3F8C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286" name="" descr="{&quot;isTemplate&quot;:true,&quot;type&quot;:&quot;text&quot;}"/>
          <p:cNvSpPr txBox="1"/>
          <p:nvPr/>
        </p:nvSpPr>
        <p:spPr>
          <a:xfrm rot="0" flipH="0" flipV="0">
            <a:off x="8086725" y="1647825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4A5568"/>
                </a:solidFill>
                <a:latin typeface="Microsoft YaHei"/>
                <a:ea typeface="Microsoft YaHei"/>
              </a:rPr>
              <a:t>层级</a:t>
            </a:r>
            <a:endParaRPr/>
          </a:p>
        </p:txBody>
      </p:sp>
      <p:sp>
        <p:nvSpPr>
          <p:cNvPr id="287" name=""/>
          <p:cNvSpPr/>
          <p:nvPr/>
        </p:nvSpPr>
        <p:spPr>
          <a:xfrm rot="0" flipH="0" flipV="0">
            <a:off x="8982075" y="1123950"/>
            <a:ext cx="1371600" cy="790575"/>
          </a:xfrm>
          <a:prstGeom prst="roundRect">
            <a:avLst>
              <a:gd name="adj" fmla="val 7229"/>
            </a:avLst>
          </a:prstGeom>
          <a:solidFill>
            <a:srgbClr val="F0F5FC"/>
          </a:solidFill>
          <a:ln w="12700">
            <a:solidFill>
              <a:srgbClr val="C7D8EF"/>
            </a:solidFill>
            <a:prstDash val="solid"/>
          </a:ln>
        </p:spPr>
        <p:txBody>
          <a:bodyPr/>
          <a:p/>
        </p:txBody>
      </p:sp>
      <p:sp>
        <p:nvSpPr>
          <p:cNvPr id="288" name="" descr="{&quot;isTemplate&quot;:true,&quot;type&quot;:&quot;text&quot;}"/>
          <p:cNvSpPr txBox="1"/>
          <p:nvPr/>
        </p:nvSpPr>
        <p:spPr>
          <a:xfrm rot="0" flipH="0" flipV="0">
            <a:off x="9572625" y="1238250"/>
            <a:ext cx="2000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0E3F8C"/>
                </a:solidFill>
                <a:latin typeface="Microsoft YaHei"/>
                <a:ea typeface="Microsoft YaHei"/>
              </a:rPr>
              <a:t>7</a:t>
            </a:r>
            <a:endParaRPr/>
          </a:p>
        </p:txBody>
      </p:sp>
      <p:sp>
        <p:nvSpPr>
          <p:cNvPr id="289" name="" descr="{&quot;isTemplate&quot;:true,&quot;type&quot;:&quot;text&quot;}"/>
          <p:cNvSpPr txBox="1"/>
          <p:nvPr/>
        </p:nvSpPr>
        <p:spPr>
          <a:xfrm rot="0" flipH="0" flipV="0">
            <a:off x="9486900" y="1647825"/>
            <a:ext cx="3714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4A5568"/>
                </a:solidFill>
                <a:latin typeface="Microsoft YaHei"/>
                <a:ea typeface="Microsoft YaHei"/>
              </a:rPr>
              <a:t>门模块</a:t>
            </a:r>
            <a:endParaRPr/>
          </a:p>
        </p:txBody>
      </p:sp>
      <p:sp>
        <p:nvSpPr>
          <p:cNvPr id="290" name=""/>
          <p:cNvSpPr/>
          <p:nvPr/>
        </p:nvSpPr>
        <p:spPr>
          <a:xfrm rot="0" flipH="0" flipV="0">
            <a:off x="10448925" y="1123950"/>
            <a:ext cx="1362075" cy="790575"/>
          </a:xfrm>
          <a:prstGeom prst="roundRect">
            <a:avLst>
              <a:gd name="adj" fmla="val 7229"/>
            </a:avLst>
          </a:prstGeom>
          <a:solidFill>
            <a:srgbClr val="F0F5FC"/>
          </a:solidFill>
          <a:ln w="12700">
            <a:solidFill>
              <a:srgbClr val="C7D8EF"/>
            </a:solidFill>
            <a:prstDash val="solid"/>
          </a:ln>
        </p:spPr>
        <p:txBody>
          <a:bodyPr/>
          <a:p/>
        </p:txBody>
      </p:sp>
      <p:sp>
        <p:nvSpPr>
          <p:cNvPr id="291" name="" descr="{&quot;isTemplate&quot;:true,&quot;type&quot;:&quot;text&quot;}"/>
          <p:cNvSpPr txBox="1"/>
          <p:nvPr/>
        </p:nvSpPr>
        <p:spPr>
          <a:xfrm rot="0" flipH="0" flipV="0">
            <a:off x="11029950" y="1238250"/>
            <a:ext cx="2000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0E3F8C"/>
                </a:solidFill>
                <a:latin typeface="Microsoft YaHei"/>
                <a:ea typeface="Microsoft YaHei"/>
              </a:rPr>
              <a:t>6</a:t>
            </a:r>
            <a:endParaRPr/>
          </a:p>
        </p:txBody>
      </p:sp>
      <p:sp>
        <p:nvSpPr>
          <p:cNvPr id="292" name="" descr="{&quot;isTemplate&quot;:true,&quot;type&quot;:&quot;text&quot;}"/>
          <p:cNvSpPr txBox="1"/>
          <p:nvPr/>
        </p:nvSpPr>
        <p:spPr>
          <a:xfrm rot="0" flipH="0" flipV="0">
            <a:off x="10887075" y="1647825"/>
            <a:ext cx="495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4A5568"/>
                </a:solidFill>
                <a:latin typeface="Microsoft YaHei"/>
                <a:ea typeface="Microsoft YaHei"/>
              </a:rPr>
              <a:t>阻遏蛋白</a:t>
            </a:r>
            <a:endParaRPr/>
          </a:p>
        </p:txBody>
      </p:sp>
      <p:sp>
        <p:nvSpPr>
          <p:cNvPr id="293" name="" descr="{&quot;isTemplate&quot;:true,&quot;type&quot;:&quot;text&quot;}"/>
          <p:cNvSpPr txBox="1"/>
          <p:nvPr/>
        </p:nvSpPr>
        <p:spPr>
          <a:xfrm rot="0" flipH="0" flipV="0">
            <a:off x="7524750" y="2124075"/>
            <a:ext cx="4286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A2230"/>
                </a:solidFill>
                <a:latin typeface="Microsoft YaHei"/>
                <a:ea typeface="Microsoft YaHei"/>
              </a:rPr>
              <a:t>按门逐一展开，验证布尔等价</a:t>
            </a:r>
            <a:endParaRPr/>
          </a:p>
        </p:txBody>
      </p:sp>
      <p:sp>
        <p:nvSpPr>
          <p:cNvPr id="294" name=""/>
          <p:cNvSpPr/>
          <p:nvPr/>
        </p:nvSpPr>
        <p:spPr>
          <a:xfrm rot="0" flipH="0" flipV="0">
            <a:off x="7524750" y="2419350"/>
            <a:ext cx="4286250" cy="1828800"/>
          </a:xfrm>
          <a:prstGeom prst="roundRect">
            <a:avLst>
              <a:gd name="adj" fmla="val 3125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95" name="" descr="{&quot;isTemplate&quot;:true,&quot;type&quot;:&quot;text&quot;}"/>
          <p:cNvSpPr txBox="1"/>
          <p:nvPr/>
        </p:nvSpPr>
        <p:spPr>
          <a:xfrm rot="0" flipH="0" flipV="0">
            <a:off x="7677150" y="2571750"/>
            <a:ext cx="3981450" cy="1524000"/>
          </a:xfrm>
          <a:prstGeom prst="rect"/>
        </p:spPr>
        <p:txBody>
          <a:bodyPr wrap="none" lIns="0" tIns="0" rIns="0" bIns="0"/>
          <a:p>
            <a:pPr>
              <a:lnSpc>
                <a:spcPct val="195000"/>
              </a:lnSpc>
            </a:pP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>n6 = ¬A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　　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>n5 = ¬B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　　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>n2 = ¬C</a:t>
            </a:r>
            <a:endParaRPr/>
          </a:p>
          <a:p>
            <a:pPr>
              <a:lnSpc>
                <a:spcPct val="195000"/>
              </a:lnSpc>
            </a:pP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>n3 = ¬(A ∨ B)</a:t>
            </a:r>
            <a:endParaRPr/>
          </a:p>
          <a:p>
            <a:pPr>
              <a:lnSpc>
                <a:spcPct val="195000"/>
              </a:lnSpc>
            </a:pP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>n4 = ¬(n6 ∨ n5) = A ∧ B</a:t>
            </a:r>
            <a:endParaRPr/>
          </a:p>
          <a:p>
            <a:pPr>
              <a:lnSpc>
                <a:spcPct val="195000"/>
              </a:lnSpc>
            </a:pP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>n1 = ¬(n2 ∨ n3) = C ∧ (A ∨ B)</a:t>
            </a:r>
            <a:endParaRPr/>
          </a:p>
        </p:txBody>
      </p:sp>
      <p:sp>
        <p:nvSpPr>
          <p:cNvPr id="296" name=""/>
          <p:cNvSpPr/>
          <p:nvPr/>
        </p:nvSpPr>
        <p:spPr>
          <a:xfrm rot="0" flipH="0" flipV="0">
            <a:off x="7562850" y="4400550"/>
            <a:ext cx="4286250" cy="89535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297" name=""/>
          <p:cNvSpPr/>
          <p:nvPr/>
        </p:nvSpPr>
        <p:spPr>
          <a:xfrm rot="0" flipH="0" flipV="0">
            <a:off x="7524750" y="4400550"/>
            <a:ext cx="4324350" cy="895350"/>
          </a:xfrm>
          <a:custGeom>
            <a:pathLst>
              <a:path w="454" h="94">
                <a:moveTo>
                  <a:pt x="0" y="0"/>
                </a:moveTo>
                <a:lnTo>
                  <a:pt x="4" y="0"/>
                </a:lnTo>
                <a:lnTo>
                  <a:pt x="4" y="94"/>
                </a:lnTo>
                <a:lnTo>
                  <a:pt x="0" y="94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298" name="" descr="{&quot;isTemplate&quot;:true,&quot;type&quot;:&quot;text&quot;}"/>
          <p:cNvSpPr txBox="1"/>
          <p:nvPr/>
        </p:nvSpPr>
        <p:spPr>
          <a:xfrm rot="0" flipH="0" flipV="0">
            <a:off x="7696200" y="4533900"/>
            <a:ext cx="3981450" cy="6286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275" b="1">
                <a:solidFill>
                  <a:srgbClr val="0E3F8C"/>
                </a:solidFill>
                <a:latin typeface="Microsoft YaHei"/>
                <a:ea typeface="Microsoft YaHei"/>
              </a:rPr>
              <a:t>OUT = n4 ∨ n1 = AB + C(A+B)</a:t>
            </a:r>
            <a:endParaRPr/>
          </a:p>
          <a:p>
            <a:pPr>
              <a:lnSpc>
                <a:spcPct val="160000"/>
              </a:lnSpc>
            </a:pPr>
            <a:r>
              <a:rPr lang="en-US" sz="1275" b="1">
                <a:solidFill>
                  <a:srgbClr val="0E3F8C"/>
                </a:solidFill>
                <a:latin typeface="Microsoft YaHei"/>
                <a:ea typeface="Microsoft YaHei"/>
              </a:rPr>
              <a:t>≡ AB + AC + BC</a:t>
            </a:r>
            <a:r>
              <a:rPr lang="zh-CN" sz="1275" b="1">
                <a:solidFill>
                  <a:srgbClr val="0E3F8C"/>
                </a:solidFill>
                <a:latin typeface="Microsoft YaHei"/>
                <a:ea typeface="Microsoft YaHei"/>
              </a:rPr>
              <a:t>　✅</a:t>
            </a:r>
            <a:r>
              <a:rPr lang="en-US" sz="1275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275" b="1">
                <a:solidFill>
                  <a:srgbClr val="0E3F8C"/>
                </a:solidFill>
                <a:latin typeface="Microsoft YaHei"/>
                <a:ea typeface="Microsoft YaHei"/>
              </a:rPr>
              <a:t>与目标一致</a:t>
            </a:r>
            <a:endParaRPr/>
          </a:p>
        </p:txBody>
      </p:sp>
      <p:sp>
        <p:nvSpPr>
          <p:cNvPr id="299" name="" descr="{&quot;isTemplate&quot;:true,&quot;type&quot;:&quot;text&quot;}"/>
          <p:cNvSpPr txBox="1"/>
          <p:nvPr/>
        </p:nvSpPr>
        <p:spPr>
          <a:xfrm rot="0" flipH="0" flipV="0">
            <a:off x="7524750" y="5410200"/>
            <a:ext cx="42862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这一步不能省：自动工具可能给出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能跑但语义不同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的方案，必须人工复核。</a:t>
            </a:r>
            <a:endParaRPr/>
          </a:p>
        </p:txBody>
      </p:sp>
      <p:sp>
        <p:nvSpPr>
          <p:cNvPr id="300" name="" descr="{&quot;isTemplate&quot;:true,&quot;type&quot;:&quot;text&quot;}"/>
          <p:cNvSpPr txBox="1"/>
          <p:nvPr/>
        </p:nvSpPr>
        <p:spPr>
          <a:xfrm rot="0" flipH="0" flipV="0">
            <a:off x="381000" y="6400800"/>
            <a:ext cx="3048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《合成生物学》课程设计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三输入多数表决基因线路</a:t>
            </a:r>
            <a:endParaRPr/>
          </a:p>
        </p:txBody>
      </p:sp>
      <p:sp>
        <p:nvSpPr>
          <p:cNvPr id="301" name="" descr="{&quot;isTemplate&quot;:true,&quot;type&quot;:&quot;text&quot;}"/>
          <p:cNvSpPr txBox="1"/>
          <p:nvPr/>
        </p:nvSpPr>
        <p:spPr>
          <a:xfrm rot="0" flipH="0" flipV="0">
            <a:off x="113538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E4FA8"/>
                </a:solidFill>
                <a:latin typeface="Microsoft YaHei"/>
                <a:ea typeface="Microsoft YaHei"/>
              </a:rPr>
              <a:t>06 / 13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302" name="" descr="&lt;Slide style={{ width: 1280, height: 720, background: '#FFFFFF', fontFamily: 'Microsoft YaHei', position: 'relative' }}&gt;&#10;    &lt;Box style={{ position: 'absolute', left: 0, top: 0, width: 1280, height: 6, background: '#0E3F8C' }} /&gt;&#10;    &lt;Box style={{ position: 'absolute', left: 40, top: 34, width: 1200, flexDirection: 'row', alignItems: 'flex-end', justifyContent: 'space-between' }}&gt;&#10;        &lt;Box style={{ flexDirection: 'row', alignItems: 'center', gap: 14 }}&gt;&#10;            &lt;Box style={{ width: 6, height: 32, background: '#1E4FA8' }} /&gt;&#10;            &lt;Text style={{ fontSize: 32, fontWeight: 'bold', color: '#0E3F8C' }}&gt;动力学模型：先把假设说清楚&lt;/Text&gt;&#10;        &lt;/Box&gt;&#10;        &lt;Text style={{ fontSize: 14, color: '#8B97A8' }}&gt;03　动力学模型&lt;/Text&gt;&#10;    &lt;/Box&gt;&#10;    &lt;Box style={{ position: 'absolute', left: 40, top: 92, width: 1200, height: 1, background: '#D6DCE5' }} /&gt;&#10;&#10;    &lt;Box style={{ position: 'absolute', left: 40, top: 118, width: 620 }}&gt;&#10;        &lt;Text style={{ fontSize: 14, color: '#8B97A8', letterSpacing: 1 }}&gt;ASSUMPTIONS&lt;/Text&gt;&#10;        &lt;Text style={{ fontSize: 20, color: '#1A2230', marginTop: 6, lineHeight: 1.6 }}&gt;&#10;            模型的可信度，取决于假设是否被明确写出、能否被质疑。&#10;        &lt;/Text&gt;&#10;&#10;        {[&#10;            { n: 'H1', t: '门的稳态输出由 Hill 响应函数给出', d: 'Cello 的标准抽象，参数来自实测' },&#10;            { n: 'H2', t: '多输入 NOR 的输入取各信号之和', d: '阻遏蛋白竞争同一操纵子位点' },&#10;            { n: 'H3', t: 'NOT = 一个输入接恒定 0 的 NOR', d: '与 Cello 的 DNA 实现一致' },&#10;            { n: 'H4', t: '输出级为双启动子 OR', d: '两路转录之和 = 荧光；官方数据斜率≈1.02' },&#10;            { n: 'H5', t: '门浓度一阶弛豫', d: 'τ·dy/dt = f(S) − y' },&#10;        ].map((it, i) =&gt; (&#10;            &lt;Box style={{ flexDirection: 'row', gap: 12, marginTop: 12, alignItems: 'flex-start' }}&gt;&#10;                &lt;Box style={{ width: 38, height: 26, background: '#1E4FA8', borderRadius: 4, alignItems: 'center', justifyContent: 'center' }}&gt;&#10;                    &lt;Text style={{ fontSize: 14, color: '#FFFFFF', fontWeight: 'bold' }}&gt;{it.n}&lt;/Text&gt;&#10;                &lt;/Box&gt;&#10;                &lt;Box style={{ width: 540 }}&gt;&#10;                    &lt;Text style={{ fontSize: 17, color: '#1A2230', fontWeight: 'bold' }}&gt;{it.t}&lt;/Text&gt;&#10;                    &lt;Text style={{ fontSize: 14, color: '#8B97A8', marginTop: 1 }}&gt;{it.d}&lt;/Text&gt;&#10;                &lt;/Box&gt;&#10;            &lt;/Box&gt;&#10;        ))}&#10;    &lt;/Box&gt;&#10;&#10;    &lt;Box style={{ position: 'absolute', left: 700, top: 118, width: 540 }}&gt;&#10;        &lt;Box style={{ padding: 20, background: '#F0F5FC', border: '1px solid #C7D8EF', borderRadius: 8 }}&gt;&#10;            &lt;Text style={{ fontSize: 13, color: '#8B97A8', letterSpacing: 1 }}&gt;HILL RESPONSE&lt;/Text&gt;&#10;            &lt;Text style={{ fontSize: 21, color: '#0E3F8C', fontWeight: 'bold', marginTop: 8 }}&gt;&#10;                y = ymin + (ymax − ymin) / (1 + (x/K)ⁿ)&#10;            &lt;/Text&gt;&#10;            &lt;Text style={{ fontSize: 14, color: '#4A5568', marginTop: 10, lineHeight: 1.6 }}&gt;&#10;                ymin/ymax：门的高低电平；K：半最大输入；n：协同性。20 个门的参数全部来自官方文件。&#10;            &lt;/Text&gt;&#10;        &lt;/Box&gt;&#10;&#10;        &lt;Box style={{ flexDirection: 'row', gap: 12, marginTop: 14 }}&gt;&#10;            &lt;Box style={{ flex: 1, padding: 16, background: '#FFFFFF', border: '1px solid #D6DCE5', borderRadius: 8 }}&gt;&#10;                &lt;Text style={{ fontSize: 13, color: '#8B97A8' }}&gt;时间常数 τ = 1/γ&lt;/Text&gt;&#10;                &lt;Text style={{ fontSize: 40, color: '#0E3F8C', fontWeight: 'bold', marginTop: 2 }}&gt;43.3&lt;/Text&gt;&#10;                &lt;Text style={{ fontSize: 13, color: '#4A5568' }}&gt;min（倍增 30 min）&lt;/Text&gt;&#10;            &lt;/Box&gt;&#10;            &lt;Box style={{ flex: 1, padding: 16, background: '#FFFFFF', border: '1px solid #D6DCE5', borderRadius: 8 }}&gt;&#10;                &lt;Text style={{ fontSize: 13, color: '#8B97A8' }}&gt;网络结构&lt;/Text&gt;&#10;                &lt;Text style={{ fontSize: 22, color: '#0E3F8C', fontWeight: 'bold', marginTop: 4 }}&gt;无反馈 DAG&lt;/Text&gt;&#10;                &lt;Text style={{ fontSize: 13, color: '#4A5568', marginTop: 2 }}&gt;稳态可解析求出&lt;/Text&gt;&#10;            &lt;/Box&gt;&#10;        &lt;/Box&gt;&#10;&#10;        &lt;Box style={{ marginTop: 14, padding: 14, background: '#F7F9FC', border: '1px solid #D6DCE5', borderRadius: 6 }}&gt;&#10;            &lt;Text style={{ fontSize: 15, color: '#4A5568', lineHeight: 1.65 }}&gt;&#10;                因为网络是前馈的（无环），稳态与 ODE 积分到无穷远等价。因此：真值表用拓扑顺序解析求值，时序才用数值积分——这也是 300 组蒙特卡洛能在笔记本上跑完的原因。&#10;            &lt;/Text&gt;&#10;        &lt;/Box&gt;&#10;    &lt;/Box&gt;&#10;&#10;    &lt;Box style={{ position: 'absolute', left: 40, top: 528, width: 1200, height: 108, background: '#F7F9FC', border: '1px solid #D6DCE5', borderRadius: 8, padding: '14px 20px' }}&gt;&#10;        &lt;Text style={{ fontSize: 13, color: '#8B97A8', letterSpacing: 1 }}&gt;TRACEABILITY　参数溯源&lt;/Text&gt;&#10;        &lt;Box style={{ flexDirection: 'row', gap: 18, marginTop: 6 }}&gt;&#10;            {[&#10;                { a: '门参数', b: 'UCF 文件的 response_functions 字段' },&#10;                { a: '时间常数', b: '倍增 30 min → γ = ln2/30' },&#10;                { a: '输出关系', b: '官方 OUTPUT_OR 表，斜率 1.02' },&#10;            ].map((it) =&gt; (&#10;                &lt;Box style={{ flex: 1 }}&gt;&#10;                    &lt;Text style={{ fontSize: 15, color: '#1E4FA8', fontWeight: 'bold' }}&gt;{it.a}&lt;/Text&gt;&#10;                    &lt;Text style={{ fontSize: 13, color: '#4A5568', marginTop: 2, lineHeight: 1.4 }}&gt;← {it.b}&lt;/Text&gt;&#10;                &lt;/Box&gt;&#10;            ))}&#10;        &lt;/Box&gt;&#10;    &lt;/Box&gt;&#10;&#10;    &lt;Box style={{ position: 'absolute', left: 40, top: 672, width: 1200, flexDirection: 'row', justifyContent: 'space-between' }}&gt;&#10;        &lt;Text style={{ fontSize: 14, color: '#8B97A8' }}&gt;《合成生物学》课程设计 · 三输入多数表决基因线路&lt;/Text&gt;&#10;        &lt;Text style={{ fontSize: 14, color: '#1E4FA8' }}&gt;07 / 13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04" name=""/>
          <p:cNvSpPr/>
          <p:nvPr/>
        </p:nvSpPr>
        <p:spPr>
          <a:xfrm rot="0" flipH="0" flipV="0">
            <a:off x="0" y="0"/>
            <a:ext cx="12192000" cy="5715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305" name=""/>
          <p:cNvSpPr/>
          <p:nvPr/>
        </p:nvSpPr>
        <p:spPr>
          <a:xfrm rot="0" flipH="0" flipV="0">
            <a:off x="381000" y="361950"/>
            <a:ext cx="57150" cy="304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06" name="" descr="{&quot;isTemplate&quot;:true,&quot;type&quot;:&quot;text&quot;}"/>
          <p:cNvSpPr txBox="1"/>
          <p:nvPr/>
        </p:nvSpPr>
        <p:spPr>
          <a:xfrm rot="0" flipH="0" flipV="0">
            <a:off x="571500" y="323850"/>
            <a:ext cx="39624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E3F8C"/>
                </a:solidFill>
                <a:latin typeface="Microsoft YaHei"/>
                <a:ea typeface="Microsoft YaHei"/>
              </a:rPr>
              <a:t>动力学模型：先把假设说清楚</a:t>
            </a:r>
            <a:endParaRPr/>
          </a:p>
        </p:txBody>
      </p:sp>
      <p:sp>
        <p:nvSpPr>
          <p:cNvPr id="307" name="" descr="{&quot;isTemplate&quot;:true,&quot;type&quot;:&quot;text&quot;}"/>
          <p:cNvSpPr txBox="1"/>
          <p:nvPr/>
        </p:nvSpPr>
        <p:spPr>
          <a:xfrm rot="0" flipH="0" flipV="0">
            <a:off x="10848975" y="533400"/>
            <a:ext cx="9620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03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　动力学模型</a:t>
            </a:r>
            <a:endParaRPr/>
          </a:p>
        </p:txBody>
      </p:sp>
      <p:sp>
        <p:nvSpPr>
          <p:cNvPr id="308" name=""/>
          <p:cNvSpPr/>
          <p:nvPr/>
        </p:nvSpPr>
        <p:spPr>
          <a:xfrm rot="0" flipH="0" flipV="0">
            <a:off x="381000" y="876300"/>
            <a:ext cx="11430000" cy="9525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309" name="" descr="{&quot;isTemplate&quot;:true,&quot;type&quot;:&quot;text&quot;}"/>
          <p:cNvSpPr txBox="1"/>
          <p:nvPr/>
        </p:nvSpPr>
        <p:spPr>
          <a:xfrm rot="0" flipH="0" flipV="0">
            <a:off x="381000" y="1123950"/>
            <a:ext cx="5905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75">
                <a:solidFill>
                  <a:srgbClr val="8B97A8"/>
                </a:solidFill>
                <a:latin typeface="Microsoft YaHei"/>
                <a:ea typeface="Microsoft YaHei"/>
              </a:rPr>
              <a:t>ASSUMPTIONS</a:t>
            </a:r>
            <a:endParaRPr/>
          </a:p>
        </p:txBody>
      </p:sp>
      <p:sp>
        <p:nvSpPr>
          <p:cNvPr id="310" name="" descr="{&quot;isTemplate&quot;:true,&quot;type&quot;:&quot;text&quot;}"/>
          <p:cNvSpPr txBox="1"/>
          <p:nvPr/>
        </p:nvSpPr>
        <p:spPr>
          <a:xfrm rot="0" flipH="0" flipV="0">
            <a:off x="381000" y="1343025"/>
            <a:ext cx="5905500" cy="3714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模型的可信度，取决于假设是否被明确写出、能否被质疑。</a:t>
            </a:r>
            <a:endParaRPr/>
          </a:p>
        </p:txBody>
      </p:sp>
      <p:sp>
        <p:nvSpPr>
          <p:cNvPr id="311" name=""/>
          <p:cNvSpPr/>
          <p:nvPr/>
        </p:nvSpPr>
        <p:spPr>
          <a:xfrm rot="0" flipH="0" flipV="0">
            <a:off x="381000" y="1828800"/>
            <a:ext cx="361950" cy="247650"/>
          </a:xfrm>
          <a:prstGeom prst="roundRect">
            <a:avLst>
              <a:gd name="adj" fmla="val 15385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12" name="" descr="{&quot;isTemplate&quot;:true,&quot;type&quot;:&quot;text&quot;}"/>
          <p:cNvSpPr txBox="1"/>
          <p:nvPr/>
        </p:nvSpPr>
        <p:spPr>
          <a:xfrm rot="0" flipH="0" flipV="0">
            <a:off x="466725" y="1876425"/>
            <a:ext cx="2000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H1</a:t>
            </a:r>
            <a:endParaRPr/>
          </a:p>
        </p:txBody>
      </p:sp>
      <p:sp>
        <p:nvSpPr>
          <p:cNvPr id="313" name="" descr="{&quot;isTemplate&quot;:true,&quot;type&quot;:&quot;text&quot;}"/>
          <p:cNvSpPr txBox="1"/>
          <p:nvPr/>
        </p:nvSpPr>
        <p:spPr>
          <a:xfrm rot="0" flipH="0" flipV="0">
            <a:off x="857250" y="1828800"/>
            <a:ext cx="5143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A2230"/>
                </a:solidFill>
                <a:latin typeface="Microsoft YaHei"/>
                <a:ea typeface="Microsoft YaHei"/>
              </a:rPr>
              <a:t>门的稳态输出由</a:t>
            </a:r>
            <a:r>
              <a:rPr lang="en-US" sz="1275" b="1">
                <a:solidFill>
                  <a:srgbClr val="1A2230"/>
                </a:solidFill>
                <a:latin typeface="Microsoft YaHei"/>
                <a:ea typeface="Microsoft YaHei"/>
              </a:rPr>
              <a:t xml:space="preserve"> Hill </a:t>
            </a:r>
            <a:r>
              <a:rPr lang="zh-CN" sz="1275" b="1">
                <a:solidFill>
                  <a:srgbClr val="1A2230"/>
                </a:solidFill>
                <a:latin typeface="Microsoft YaHei"/>
                <a:ea typeface="Microsoft YaHei"/>
              </a:rPr>
              <a:t>响应函数给出</a:t>
            </a:r>
            <a:endParaRPr/>
          </a:p>
        </p:txBody>
      </p:sp>
      <p:sp>
        <p:nvSpPr>
          <p:cNvPr id="314" name="" descr="{&quot;isTemplate&quot;:true,&quot;type&quot;:&quot;text&quot;}"/>
          <p:cNvSpPr txBox="1"/>
          <p:nvPr/>
        </p:nvSpPr>
        <p:spPr>
          <a:xfrm rot="0" flipH="0" flipV="0">
            <a:off x="857250" y="2038350"/>
            <a:ext cx="5143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Cello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的标准抽象，参数来自实测</a:t>
            </a:r>
            <a:endParaRPr/>
          </a:p>
        </p:txBody>
      </p:sp>
      <p:sp>
        <p:nvSpPr>
          <p:cNvPr id="315" name=""/>
          <p:cNvSpPr/>
          <p:nvPr/>
        </p:nvSpPr>
        <p:spPr>
          <a:xfrm rot="0" flipH="0" flipV="0">
            <a:off x="381000" y="2314575"/>
            <a:ext cx="361950" cy="247650"/>
          </a:xfrm>
          <a:prstGeom prst="roundRect">
            <a:avLst>
              <a:gd name="adj" fmla="val 15385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16" name="" descr="{&quot;isTemplate&quot;:true,&quot;type&quot;:&quot;text&quot;}"/>
          <p:cNvSpPr txBox="1"/>
          <p:nvPr/>
        </p:nvSpPr>
        <p:spPr>
          <a:xfrm rot="0" flipH="0" flipV="0">
            <a:off x="466725" y="2362200"/>
            <a:ext cx="2000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H2</a:t>
            </a:r>
            <a:endParaRPr/>
          </a:p>
        </p:txBody>
      </p:sp>
      <p:sp>
        <p:nvSpPr>
          <p:cNvPr id="317" name="" descr="{&quot;isTemplate&quot;:true,&quot;type&quot;:&quot;text&quot;}"/>
          <p:cNvSpPr txBox="1"/>
          <p:nvPr/>
        </p:nvSpPr>
        <p:spPr>
          <a:xfrm rot="0" flipH="0" flipV="0">
            <a:off x="857250" y="2314575"/>
            <a:ext cx="5143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A2230"/>
                </a:solidFill>
                <a:latin typeface="Microsoft YaHei"/>
                <a:ea typeface="Microsoft YaHei"/>
              </a:rPr>
              <a:t>多输入</a:t>
            </a:r>
            <a:r>
              <a:rPr lang="en-US" sz="1275" b="1">
                <a:solidFill>
                  <a:srgbClr val="1A2230"/>
                </a:solidFill>
                <a:latin typeface="Microsoft YaHei"/>
                <a:ea typeface="Microsoft YaHei"/>
              </a:rPr>
              <a:t xml:space="preserve"> NOR </a:t>
            </a:r>
            <a:r>
              <a:rPr lang="zh-CN" sz="1275" b="1">
                <a:solidFill>
                  <a:srgbClr val="1A2230"/>
                </a:solidFill>
                <a:latin typeface="Microsoft YaHei"/>
                <a:ea typeface="Microsoft YaHei"/>
              </a:rPr>
              <a:t>的输入取各信号之和</a:t>
            </a:r>
            <a:endParaRPr/>
          </a:p>
        </p:txBody>
      </p:sp>
      <p:sp>
        <p:nvSpPr>
          <p:cNvPr id="318" name="" descr="{&quot;isTemplate&quot;:true,&quot;type&quot;:&quot;text&quot;}"/>
          <p:cNvSpPr txBox="1"/>
          <p:nvPr/>
        </p:nvSpPr>
        <p:spPr>
          <a:xfrm rot="0" flipH="0" flipV="0">
            <a:off x="857250" y="2524125"/>
            <a:ext cx="5143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阻遏蛋白竞争同一操纵子位点</a:t>
            </a:r>
            <a:endParaRPr/>
          </a:p>
        </p:txBody>
      </p:sp>
      <p:sp>
        <p:nvSpPr>
          <p:cNvPr id="319" name=""/>
          <p:cNvSpPr/>
          <p:nvPr/>
        </p:nvSpPr>
        <p:spPr>
          <a:xfrm rot="0" flipH="0" flipV="0">
            <a:off x="381000" y="2800350"/>
            <a:ext cx="361950" cy="247650"/>
          </a:xfrm>
          <a:prstGeom prst="roundRect">
            <a:avLst>
              <a:gd name="adj" fmla="val 15385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20" name="" descr="{&quot;isTemplate&quot;:true,&quot;type&quot;:&quot;text&quot;}"/>
          <p:cNvSpPr txBox="1"/>
          <p:nvPr/>
        </p:nvSpPr>
        <p:spPr>
          <a:xfrm rot="0" flipH="0" flipV="0">
            <a:off x="466725" y="2847975"/>
            <a:ext cx="2000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H3</a:t>
            </a:r>
            <a:endParaRPr/>
          </a:p>
        </p:txBody>
      </p:sp>
      <p:sp>
        <p:nvSpPr>
          <p:cNvPr id="321" name="" descr="{&quot;isTemplate&quot;:true,&quot;type&quot;:&quot;text&quot;}"/>
          <p:cNvSpPr txBox="1"/>
          <p:nvPr/>
        </p:nvSpPr>
        <p:spPr>
          <a:xfrm rot="0" flipH="0" flipV="0">
            <a:off x="857250" y="2800350"/>
            <a:ext cx="5143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A2230"/>
                </a:solidFill>
                <a:latin typeface="Microsoft YaHei"/>
                <a:ea typeface="Microsoft YaHei"/>
              </a:rPr>
              <a:t xml:space="preserve">NOT = </a:t>
            </a:r>
            <a:r>
              <a:rPr lang="zh-CN" sz="1275" b="1">
                <a:solidFill>
                  <a:srgbClr val="1A2230"/>
                </a:solidFill>
                <a:latin typeface="Microsoft YaHei"/>
                <a:ea typeface="Microsoft YaHei"/>
              </a:rPr>
              <a:t>一个输入接恒定</a:t>
            </a:r>
            <a:r>
              <a:rPr lang="en-US" sz="1275" b="1">
                <a:solidFill>
                  <a:srgbClr val="1A2230"/>
                </a:solidFill>
                <a:latin typeface="Microsoft YaHei"/>
                <a:ea typeface="Microsoft YaHei"/>
              </a:rPr>
              <a:t xml:space="preserve"> 0 </a:t>
            </a:r>
            <a:r>
              <a:rPr lang="zh-CN" sz="1275" b="1">
                <a:solidFill>
                  <a:srgbClr val="1A2230"/>
                </a:solidFill>
                <a:latin typeface="Microsoft YaHei"/>
                <a:ea typeface="Microsoft YaHei"/>
              </a:rPr>
              <a:t>的</a:t>
            </a:r>
            <a:r>
              <a:rPr lang="en-US" sz="1275" b="1">
                <a:solidFill>
                  <a:srgbClr val="1A2230"/>
                </a:solidFill>
                <a:latin typeface="Microsoft YaHei"/>
                <a:ea typeface="Microsoft YaHei"/>
              </a:rPr>
              <a:t xml:space="preserve"> NOR</a:t>
            </a:r>
            <a:endParaRPr/>
          </a:p>
        </p:txBody>
      </p:sp>
      <p:sp>
        <p:nvSpPr>
          <p:cNvPr id="322" name="" descr="{&quot;isTemplate&quot;:true,&quot;type&quot;:&quot;text&quot;}"/>
          <p:cNvSpPr txBox="1"/>
          <p:nvPr/>
        </p:nvSpPr>
        <p:spPr>
          <a:xfrm rot="0" flipH="0" flipV="0">
            <a:off x="857250" y="3009900"/>
            <a:ext cx="5143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与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Cello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的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DNA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实现一致</a:t>
            </a:r>
            <a:endParaRPr/>
          </a:p>
        </p:txBody>
      </p:sp>
      <p:sp>
        <p:nvSpPr>
          <p:cNvPr id="323" name=""/>
          <p:cNvSpPr/>
          <p:nvPr/>
        </p:nvSpPr>
        <p:spPr>
          <a:xfrm rot="0" flipH="0" flipV="0">
            <a:off x="381000" y="3286125"/>
            <a:ext cx="361950" cy="247650"/>
          </a:xfrm>
          <a:prstGeom prst="roundRect">
            <a:avLst>
              <a:gd name="adj" fmla="val 15385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24" name="" descr="{&quot;isTemplate&quot;:true,&quot;type&quot;:&quot;text&quot;}"/>
          <p:cNvSpPr txBox="1"/>
          <p:nvPr/>
        </p:nvSpPr>
        <p:spPr>
          <a:xfrm rot="0" flipH="0" flipV="0">
            <a:off x="466725" y="3333750"/>
            <a:ext cx="2000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H4</a:t>
            </a:r>
            <a:endParaRPr/>
          </a:p>
        </p:txBody>
      </p:sp>
      <p:sp>
        <p:nvSpPr>
          <p:cNvPr id="325" name="" descr="{&quot;isTemplate&quot;:true,&quot;type&quot;:&quot;text&quot;}"/>
          <p:cNvSpPr txBox="1"/>
          <p:nvPr/>
        </p:nvSpPr>
        <p:spPr>
          <a:xfrm rot="0" flipH="0" flipV="0">
            <a:off x="857250" y="3286125"/>
            <a:ext cx="5143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A2230"/>
                </a:solidFill>
                <a:latin typeface="Microsoft YaHei"/>
                <a:ea typeface="Microsoft YaHei"/>
              </a:rPr>
              <a:t>输出级为双启动子</a:t>
            </a:r>
            <a:r>
              <a:rPr lang="en-US" sz="1275" b="1">
                <a:solidFill>
                  <a:srgbClr val="1A2230"/>
                </a:solidFill>
                <a:latin typeface="Microsoft YaHei"/>
                <a:ea typeface="Microsoft YaHei"/>
              </a:rPr>
              <a:t xml:space="preserve"> OR</a:t>
            </a:r>
            <a:endParaRPr/>
          </a:p>
        </p:txBody>
      </p:sp>
      <p:sp>
        <p:nvSpPr>
          <p:cNvPr id="326" name="" descr="{&quot;isTemplate&quot;:true,&quot;type&quot;:&quot;text&quot;}"/>
          <p:cNvSpPr txBox="1"/>
          <p:nvPr/>
        </p:nvSpPr>
        <p:spPr>
          <a:xfrm rot="0" flipH="0" flipV="0">
            <a:off x="857250" y="3495675"/>
            <a:ext cx="5143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两路转录之和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=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荧光；官方数据斜率≈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1.02</a:t>
            </a:r>
            <a:endParaRPr/>
          </a:p>
        </p:txBody>
      </p:sp>
      <p:sp>
        <p:nvSpPr>
          <p:cNvPr id="327" name=""/>
          <p:cNvSpPr/>
          <p:nvPr/>
        </p:nvSpPr>
        <p:spPr>
          <a:xfrm rot="0" flipH="0" flipV="0">
            <a:off x="381000" y="3771900"/>
            <a:ext cx="361950" cy="247650"/>
          </a:xfrm>
          <a:prstGeom prst="roundRect">
            <a:avLst>
              <a:gd name="adj" fmla="val 15385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28" name="" descr="{&quot;isTemplate&quot;:true,&quot;type&quot;:&quot;text&quot;}"/>
          <p:cNvSpPr txBox="1"/>
          <p:nvPr/>
        </p:nvSpPr>
        <p:spPr>
          <a:xfrm rot="0" flipH="0" flipV="0">
            <a:off x="466725" y="3819525"/>
            <a:ext cx="2000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H5</a:t>
            </a:r>
            <a:endParaRPr/>
          </a:p>
        </p:txBody>
      </p:sp>
      <p:sp>
        <p:nvSpPr>
          <p:cNvPr id="329" name="" descr="{&quot;isTemplate&quot;:true,&quot;type&quot;:&quot;text&quot;}"/>
          <p:cNvSpPr txBox="1"/>
          <p:nvPr/>
        </p:nvSpPr>
        <p:spPr>
          <a:xfrm rot="0" flipH="0" flipV="0">
            <a:off x="857250" y="3771900"/>
            <a:ext cx="5143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A2230"/>
                </a:solidFill>
                <a:latin typeface="Microsoft YaHei"/>
                <a:ea typeface="Microsoft YaHei"/>
              </a:rPr>
              <a:t>门浓度一阶弛豫</a:t>
            </a:r>
            <a:endParaRPr/>
          </a:p>
        </p:txBody>
      </p:sp>
      <p:sp>
        <p:nvSpPr>
          <p:cNvPr id="330" name="" descr="{&quot;isTemplate&quot;:true,&quot;type&quot;:&quot;text&quot;}"/>
          <p:cNvSpPr txBox="1"/>
          <p:nvPr/>
        </p:nvSpPr>
        <p:spPr>
          <a:xfrm rot="0" flipH="0" flipV="0">
            <a:off x="857250" y="3981450"/>
            <a:ext cx="5143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τ·dy/dt = f(S) − y</a:t>
            </a:r>
            <a:endParaRPr/>
          </a:p>
        </p:txBody>
      </p:sp>
      <p:sp>
        <p:nvSpPr>
          <p:cNvPr id="331" name=""/>
          <p:cNvSpPr/>
          <p:nvPr/>
        </p:nvSpPr>
        <p:spPr>
          <a:xfrm rot="0" flipH="0" flipV="0">
            <a:off x="6667500" y="1123950"/>
            <a:ext cx="5143500" cy="1466850"/>
          </a:xfrm>
          <a:prstGeom prst="roundRect">
            <a:avLst>
              <a:gd name="adj" fmla="val 5195"/>
            </a:avLst>
          </a:prstGeom>
          <a:solidFill>
            <a:srgbClr val="F0F5FC"/>
          </a:solidFill>
          <a:ln w="12700">
            <a:solidFill>
              <a:srgbClr val="C7D8EF"/>
            </a:solidFill>
            <a:prstDash val="solid"/>
          </a:ln>
        </p:spPr>
        <p:txBody>
          <a:bodyPr/>
          <a:p/>
        </p:txBody>
      </p:sp>
      <p:sp>
        <p:nvSpPr>
          <p:cNvPr id="332" name="" descr="{&quot;isTemplate&quot;:true,&quot;type&quot;:&quot;text&quot;}"/>
          <p:cNvSpPr txBox="1"/>
          <p:nvPr/>
        </p:nvSpPr>
        <p:spPr>
          <a:xfrm rot="0" flipH="0" flipV="0">
            <a:off x="6858000" y="1314450"/>
            <a:ext cx="4762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75">
                <a:solidFill>
                  <a:srgbClr val="8B97A8"/>
                </a:solidFill>
                <a:latin typeface="Microsoft YaHei"/>
                <a:ea typeface="Microsoft YaHei"/>
              </a:rPr>
              <a:t>HILL RESPONSE</a:t>
            </a:r>
            <a:endParaRPr/>
          </a:p>
        </p:txBody>
      </p:sp>
      <p:sp>
        <p:nvSpPr>
          <p:cNvPr id="333" name="" descr="{&quot;isTemplate&quot;:true,&quot;type&quot;:&quot;text&quot;}"/>
          <p:cNvSpPr txBox="1"/>
          <p:nvPr/>
        </p:nvSpPr>
        <p:spPr>
          <a:xfrm rot="0" flipH="0" flipV="0">
            <a:off x="6858000" y="1543050"/>
            <a:ext cx="47625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0E3F8C"/>
                </a:solidFill>
                <a:latin typeface="Microsoft YaHei"/>
                <a:ea typeface="Microsoft YaHei"/>
              </a:rPr>
              <a:t>y = ymin + (ymax − ymin) / (1 + (x/K)ⁿ)</a:t>
            </a:r>
            <a:endParaRPr/>
          </a:p>
        </p:txBody>
      </p:sp>
      <p:sp>
        <p:nvSpPr>
          <p:cNvPr id="334" name="" descr="{&quot;isTemplate&quot;:true,&quot;type&quot;:&quot;text&quot;}"/>
          <p:cNvSpPr txBox="1"/>
          <p:nvPr/>
        </p:nvSpPr>
        <p:spPr>
          <a:xfrm rot="0" flipH="0" flipV="0">
            <a:off x="6858000" y="1885950"/>
            <a:ext cx="47625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ymin/ymax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：门的高低电平；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K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：半最大输入；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n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：协同性。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 xml:space="preserve">20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个门的参数全部来自官方文件。</a:t>
            </a:r>
            <a:endParaRPr/>
          </a:p>
        </p:txBody>
      </p:sp>
      <p:sp>
        <p:nvSpPr>
          <p:cNvPr id="335" name=""/>
          <p:cNvSpPr/>
          <p:nvPr/>
        </p:nvSpPr>
        <p:spPr>
          <a:xfrm rot="0" flipH="0" flipV="0">
            <a:off x="6667500" y="2724150"/>
            <a:ext cx="2514600" cy="1085850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36" name="" descr="{&quot;isTemplate&quot;:true,&quot;type&quot;:&quot;text&quot;}"/>
          <p:cNvSpPr txBox="1"/>
          <p:nvPr/>
        </p:nvSpPr>
        <p:spPr>
          <a:xfrm rot="0" flipH="0" flipV="0">
            <a:off x="6819900" y="2876550"/>
            <a:ext cx="2209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时间常数</a:t>
            </a: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 xml:space="preserve"> τ = 1/γ</a:t>
            </a:r>
            <a:endParaRPr/>
          </a:p>
        </p:txBody>
      </p:sp>
      <p:sp>
        <p:nvSpPr>
          <p:cNvPr id="337" name="" descr="{&quot;isTemplate&quot;:true,&quot;type&quot;:&quot;text&quot;}"/>
          <p:cNvSpPr txBox="1"/>
          <p:nvPr/>
        </p:nvSpPr>
        <p:spPr>
          <a:xfrm rot="0" flipH="0" flipV="0">
            <a:off x="6819900" y="3048000"/>
            <a:ext cx="22098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0E3F8C"/>
                </a:solidFill>
                <a:latin typeface="Microsoft YaHei"/>
                <a:ea typeface="Microsoft YaHei"/>
              </a:rPr>
              <a:t>43.3</a:t>
            </a:r>
            <a:endParaRPr/>
          </a:p>
        </p:txBody>
      </p:sp>
      <p:sp>
        <p:nvSpPr>
          <p:cNvPr id="338" name="" descr="{&quot;isTemplate&quot;:true,&quot;type&quot;:&quot;text&quot;}"/>
          <p:cNvSpPr txBox="1"/>
          <p:nvPr/>
        </p:nvSpPr>
        <p:spPr>
          <a:xfrm rot="0" flipH="0" flipV="0">
            <a:off x="6819900" y="3505200"/>
            <a:ext cx="2209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>min</a:t>
            </a:r>
            <a:r>
              <a:rPr lang="zh-CN" sz="975">
                <a:solidFill>
                  <a:srgbClr val="4A5568"/>
                </a:solidFill>
                <a:latin typeface="Microsoft YaHei"/>
                <a:ea typeface="Microsoft YaHei"/>
              </a:rPr>
              <a:t>（倍增</a:t>
            </a: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 xml:space="preserve"> 30 min</a:t>
            </a:r>
            <a:r>
              <a:rPr lang="zh-CN" sz="975">
                <a:solidFill>
                  <a:srgbClr val="4A5568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339" name=""/>
          <p:cNvSpPr/>
          <p:nvPr/>
        </p:nvSpPr>
        <p:spPr>
          <a:xfrm rot="0" flipH="0" flipV="0">
            <a:off x="9296400" y="2724150"/>
            <a:ext cx="2514600" cy="1085850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40" name="" descr="{&quot;isTemplate&quot;:true,&quot;type&quot;:&quot;text&quot;}"/>
          <p:cNvSpPr txBox="1"/>
          <p:nvPr/>
        </p:nvSpPr>
        <p:spPr>
          <a:xfrm rot="0" flipH="0" flipV="0">
            <a:off x="9448800" y="2876550"/>
            <a:ext cx="2209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网络结构</a:t>
            </a:r>
            <a:endParaRPr/>
          </a:p>
        </p:txBody>
      </p:sp>
      <p:sp>
        <p:nvSpPr>
          <p:cNvPr id="341" name="" descr="{&quot;isTemplate&quot;:true,&quot;type&quot;:&quot;text&quot;}"/>
          <p:cNvSpPr txBox="1"/>
          <p:nvPr/>
        </p:nvSpPr>
        <p:spPr>
          <a:xfrm rot="0" flipH="0" flipV="0">
            <a:off x="9448800" y="3067050"/>
            <a:ext cx="22098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Microsoft YaHei"/>
                <a:ea typeface="Microsoft YaHei"/>
              </a:rPr>
              <a:t>无反馈</a:t>
            </a:r>
            <a:r>
              <a:rPr lang="en-US" sz="1650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 DAG</a:t>
            </a:r>
            <a:endParaRPr/>
          </a:p>
        </p:txBody>
      </p:sp>
      <p:sp>
        <p:nvSpPr>
          <p:cNvPr id="342" name="" descr="{&quot;isTemplate&quot;:true,&quot;type&quot;:&quot;text&quot;}"/>
          <p:cNvSpPr txBox="1"/>
          <p:nvPr/>
        </p:nvSpPr>
        <p:spPr>
          <a:xfrm rot="0" flipH="0" flipV="0">
            <a:off x="9448800" y="3343275"/>
            <a:ext cx="2209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4A5568"/>
                </a:solidFill>
                <a:latin typeface="Microsoft YaHei"/>
                <a:ea typeface="Microsoft YaHei"/>
              </a:rPr>
              <a:t>稳态可解析求出</a:t>
            </a:r>
            <a:endParaRPr/>
          </a:p>
        </p:txBody>
      </p:sp>
      <p:sp>
        <p:nvSpPr>
          <p:cNvPr id="343" name=""/>
          <p:cNvSpPr/>
          <p:nvPr/>
        </p:nvSpPr>
        <p:spPr>
          <a:xfrm rot="0" flipH="0" flipV="0">
            <a:off x="6667500" y="3943350"/>
            <a:ext cx="5143500" cy="1123950"/>
          </a:xfrm>
          <a:prstGeom prst="roundRect">
            <a:avLst>
              <a:gd name="adj" fmla="val 5085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44" name="" descr="{&quot;isTemplate&quot;:true,&quot;type&quot;:&quot;text&quot;}"/>
          <p:cNvSpPr txBox="1"/>
          <p:nvPr/>
        </p:nvSpPr>
        <p:spPr>
          <a:xfrm rot="0" flipH="0" flipV="0">
            <a:off x="6800850" y="4076700"/>
            <a:ext cx="4876800" cy="857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因为网络是前馈的（无环），稳态与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ODE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积分到无穷远等价。因此：真值表用拓扑顺序解析求值，时序才用数值积分——这也是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300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组蒙特卡洛能在笔记本上跑完的原因。</a:t>
            </a:r>
            <a:endParaRPr/>
          </a:p>
        </p:txBody>
      </p:sp>
      <p:sp>
        <p:nvSpPr>
          <p:cNvPr id="345" name=""/>
          <p:cNvSpPr/>
          <p:nvPr/>
        </p:nvSpPr>
        <p:spPr>
          <a:xfrm rot="0" flipH="0" flipV="0">
            <a:off x="381000" y="5029200"/>
            <a:ext cx="11430000" cy="1028700"/>
          </a:xfrm>
          <a:prstGeom prst="roundRect">
            <a:avLst>
              <a:gd name="adj" fmla="val 7407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46" name="" descr="{&quot;isTemplate&quot;:true,&quot;type&quot;:&quot;text&quot;}"/>
          <p:cNvSpPr txBox="1"/>
          <p:nvPr/>
        </p:nvSpPr>
        <p:spPr>
          <a:xfrm rot="0" flipH="0" flipV="0">
            <a:off x="571500" y="5162550"/>
            <a:ext cx="11049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75">
                <a:solidFill>
                  <a:srgbClr val="8B97A8"/>
                </a:solidFill>
                <a:latin typeface="Microsoft YaHei"/>
                <a:ea typeface="Microsoft YaHei"/>
              </a:rPr>
              <a:t>TRACEABILITY</a:t>
            </a:r>
            <a:r>
              <a:rPr lang="zh-CN" sz="975" spc="75">
                <a:solidFill>
                  <a:srgbClr val="8B97A8"/>
                </a:solidFill>
                <a:latin typeface="Microsoft YaHei"/>
                <a:ea typeface="Microsoft YaHei"/>
              </a:rPr>
              <a:t>　参数溯源</a:t>
            </a:r>
            <a:endParaRPr/>
          </a:p>
        </p:txBody>
      </p:sp>
      <p:sp>
        <p:nvSpPr>
          <p:cNvPr id="347" name="" descr="{&quot;isTemplate&quot;:true,&quot;type&quot;:&quot;text&quot;}"/>
          <p:cNvSpPr txBox="1"/>
          <p:nvPr/>
        </p:nvSpPr>
        <p:spPr>
          <a:xfrm rot="0" flipH="0" flipV="0">
            <a:off x="571500" y="5372100"/>
            <a:ext cx="3571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E4FA8"/>
                </a:solidFill>
                <a:latin typeface="Microsoft YaHei"/>
                <a:ea typeface="Microsoft YaHei"/>
              </a:rPr>
              <a:t>门参数</a:t>
            </a:r>
            <a:endParaRPr/>
          </a:p>
        </p:txBody>
      </p:sp>
      <p:sp>
        <p:nvSpPr>
          <p:cNvPr id="348" name="" descr="{&quot;isTemplate&quot;:true,&quot;type&quot;:&quot;text&quot;}"/>
          <p:cNvSpPr txBox="1"/>
          <p:nvPr/>
        </p:nvSpPr>
        <p:spPr>
          <a:xfrm rot="0" flipH="0" flipV="0">
            <a:off x="571500" y="5562600"/>
            <a:ext cx="3571875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 xml:space="preserve">← </a:t>
            </a: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 xml:space="preserve">UCF </a:t>
            </a:r>
            <a:r>
              <a:rPr lang="zh-CN" sz="975">
                <a:solidFill>
                  <a:srgbClr val="4A5568"/>
                </a:solidFill>
                <a:latin typeface="Microsoft YaHei"/>
                <a:ea typeface="Microsoft YaHei"/>
              </a:rPr>
              <a:t>文件的</a:t>
            </a: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 xml:space="preserve"> response_functions </a:t>
            </a:r>
            <a:r>
              <a:rPr lang="zh-CN" sz="975">
                <a:solidFill>
                  <a:srgbClr val="4A5568"/>
                </a:solidFill>
                <a:latin typeface="Microsoft YaHei"/>
                <a:ea typeface="Microsoft YaHei"/>
              </a:rPr>
              <a:t>字段</a:t>
            </a:r>
            <a:endParaRPr/>
          </a:p>
        </p:txBody>
      </p:sp>
      <p:sp>
        <p:nvSpPr>
          <p:cNvPr id="349" name="" descr="{&quot;isTemplate&quot;:true,&quot;type&quot;:&quot;text&quot;}"/>
          <p:cNvSpPr txBox="1"/>
          <p:nvPr/>
        </p:nvSpPr>
        <p:spPr>
          <a:xfrm rot="0" flipH="0" flipV="0">
            <a:off x="4314825" y="5372100"/>
            <a:ext cx="3562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E4FA8"/>
                </a:solidFill>
                <a:latin typeface="Microsoft YaHei"/>
                <a:ea typeface="Microsoft YaHei"/>
              </a:rPr>
              <a:t>时间常数</a:t>
            </a:r>
            <a:endParaRPr/>
          </a:p>
        </p:txBody>
      </p:sp>
      <p:sp>
        <p:nvSpPr>
          <p:cNvPr id="350" name="" descr="{&quot;isTemplate&quot;:true,&quot;type&quot;:&quot;text&quot;}"/>
          <p:cNvSpPr txBox="1"/>
          <p:nvPr/>
        </p:nvSpPr>
        <p:spPr>
          <a:xfrm rot="0" flipH="0" flipV="0">
            <a:off x="4314825" y="5562600"/>
            <a:ext cx="356235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 xml:space="preserve">← </a:t>
            </a:r>
            <a:r>
              <a:rPr lang="zh-CN" sz="975">
                <a:solidFill>
                  <a:srgbClr val="4A5568"/>
                </a:solidFill>
                <a:latin typeface="Microsoft YaHei"/>
                <a:ea typeface="Microsoft YaHei"/>
              </a:rPr>
              <a:t>倍增</a:t>
            </a: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 xml:space="preserve"> 30 min → γ = ln2/30</a:t>
            </a:r>
            <a:endParaRPr/>
          </a:p>
        </p:txBody>
      </p:sp>
      <p:sp>
        <p:nvSpPr>
          <p:cNvPr id="351" name="" descr="{&quot;isTemplate&quot;:true,&quot;type&quot;:&quot;text&quot;}"/>
          <p:cNvSpPr txBox="1"/>
          <p:nvPr/>
        </p:nvSpPr>
        <p:spPr>
          <a:xfrm rot="0" flipH="0" flipV="0">
            <a:off x="8048625" y="5372100"/>
            <a:ext cx="3571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E4FA8"/>
                </a:solidFill>
                <a:latin typeface="Microsoft YaHei"/>
                <a:ea typeface="Microsoft YaHei"/>
              </a:rPr>
              <a:t>输出关系</a:t>
            </a:r>
            <a:endParaRPr/>
          </a:p>
        </p:txBody>
      </p:sp>
      <p:sp>
        <p:nvSpPr>
          <p:cNvPr id="352" name="" descr="{&quot;isTemplate&quot;:true,&quot;type&quot;:&quot;text&quot;}"/>
          <p:cNvSpPr txBox="1"/>
          <p:nvPr/>
        </p:nvSpPr>
        <p:spPr>
          <a:xfrm rot="0" flipH="0" flipV="0">
            <a:off x="8048625" y="5562600"/>
            <a:ext cx="3571875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 xml:space="preserve">← </a:t>
            </a:r>
            <a:r>
              <a:rPr lang="zh-CN" sz="975">
                <a:solidFill>
                  <a:srgbClr val="4A5568"/>
                </a:solidFill>
                <a:latin typeface="Microsoft YaHei"/>
                <a:ea typeface="Microsoft YaHei"/>
              </a:rPr>
              <a:t>官方</a:t>
            </a: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 xml:space="preserve"> OUTPUT_OR </a:t>
            </a:r>
            <a:r>
              <a:rPr lang="zh-CN" sz="975">
                <a:solidFill>
                  <a:srgbClr val="4A5568"/>
                </a:solidFill>
                <a:latin typeface="Microsoft YaHei"/>
                <a:ea typeface="Microsoft YaHei"/>
              </a:rPr>
              <a:t>表，斜率</a:t>
            </a: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 xml:space="preserve"> 1.02</a:t>
            </a:r>
            <a:endParaRPr/>
          </a:p>
        </p:txBody>
      </p:sp>
      <p:sp>
        <p:nvSpPr>
          <p:cNvPr id="353" name="" descr="{&quot;isTemplate&quot;:true,&quot;type&quot;:&quot;text&quot;}"/>
          <p:cNvSpPr txBox="1"/>
          <p:nvPr/>
        </p:nvSpPr>
        <p:spPr>
          <a:xfrm rot="0" flipH="0" flipV="0">
            <a:off x="381000" y="6400800"/>
            <a:ext cx="3048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《合成生物学》课程设计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三输入多数表决基因线路</a:t>
            </a:r>
            <a:endParaRPr/>
          </a:p>
        </p:txBody>
      </p:sp>
      <p:sp>
        <p:nvSpPr>
          <p:cNvPr id="354" name="" descr="{&quot;isTemplate&quot;:true,&quot;type&quot;:&quot;text&quot;}"/>
          <p:cNvSpPr txBox="1"/>
          <p:nvPr/>
        </p:nvSpPr>
        <p:spPr>
          <a:xfrm rot="0" flipH="0" flipV="0">
            <a:off x="113538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E4FA8"/>
                </a:solidFill>
                <a:latin typeface="Microsoft YaHei"/>
                <a:ea typeface="Microsoft YaHei"/>
              </a:rPr>
              <a:t>07 / 13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355" name="" descr="&lt;Slide style={{ width: 1280, height: 720, background: '#FFFFFF', fontFamily: 'Microsoft YaHei', position: 'relative' }}&gt;&#13;&#10;    &lt;Box style={{ position: 'absolute', left: 0, top: 0, width: 1280, height: 6, background: '#0E3F8C' }} /&gt;&#13;&#10;    &lt;Box style={{ position: 'absolute', left: 40, top: 34, width: 1200, flexDirection: 'row', alignItems: 'flex-end', justifyContent: 'space-between' }}&gt;&#13;&#10;        &lt;Box style={{ flexDirection: 'row', alignItems: 'center', gap: 14 }}&gt;&#13;&#10;            &lt;Box style={{ width: 6, height: 32, background: '#1E4FA8' }} /&gt;&#13;&#10;            &lt;Text style={{ fontSize: 32, fontWeight: 'bold', color: '#0E3F8C' }}&gt;稳态结果：8 种输入，8 种正确&lt;/Text&gt;&#13;&#10;        &lt;/Box&gt;&#13;&#10;        &lt;Text style={{ fontSize: 14, color: '#8B97A8' }}&gt;04　仿真与验证&lt;/Text&gt;&#13;&#10;    &lt;/Box&gt;&#13;&#10;    &lt;Box style={{ position: 'absolute', left: 40, top: 92, width: 1200, height: 1, background: '#D6DCE5' }} /&gt;&#13;&#10;&#13;&#10;    &lt;Box style={{ position: 'absolute', left: 40, top: 110, width: 760, height: 436 }}&gt;&#13;&#10;        &lt;Image src=&quot;assets/truth_table.png&quot; style={{ width: 760, height: 436, objectFit: 'contain' }} /&gt;&#13;&#10;    &lt;/Box&gt;&#13;&#10;    &lt;Box style={{ position: 'absolute', left: 40, top: 552, width: 760 }}&gt;&#13;&#10;        &lt;Text style={{ fontSize: 13, color: '#8B97A8', textAlign: 'center' }}&gt;&#13;&#10;            图 2　8 种输入组合的稳态荧光输出；虚线为 1.0 RPU 判决阈值&#13;&#10;        &lt;/Text&gt;&#13;&#10;    &lt;/Box&gt;&#13;&#10;&#13;&#10;    &lt;Box style={{ position: 'absolute', left: 830, top: 124, width: 410 }}&gt;&#13;&#10;        &lt;Box style={{ padding: '18px 20px', background: '#0E3F8C', borderRadius: 8 }}&gt;&#13;&#10;            &lt;Text style={{ fontSize: 14, color: '#A9C3E8' }}&gt;逻辑正确性&lt;/Text&gt;&#13;&#10;            &lt;Text style={{ fontSize: 74, color: '#FFFFFF', fontWeight: 'bold', lineHeight: 1.05 }}&gt;8/8&lt;/Text&gt;&#13;&#10;            &lt;Text style={{ fontSize: 14, color: '#D5E3F6' }}&gt;全部输入组合判定正确&lt;/Text&gt;&#13;&#10;        &lt;/Box&gt;&#13;&#10;&#13;&#10;        &lt;Box style={{ marginTop: 14, padding: '16px 20px', background: '#F0F5FC', border: '1px solid #C7D8EF', borderRadius: 8 }}&gt;&#13;&#10;            &lt;Text style={{ fontSize: 14, color: '#8B97A8' }}&gt;ON / OFF 比值&lt;/Text&gt;&#13;&#10;            &lt;Text style={{ fontSize: 46, color: '#1E4FA8', fontWeight: 'bold', lineHeight: 1.1 }}&gt;23.6×&lt;/Text&gt;&#13;&#10;            &lt;Text style={{ fontSize: 14, color: '#4A5568', lineHeight: 1.6, marginTop: 4 }}&gt;&#13;&#10;                ON 3.65–10.11 RPU&#13;&#10;                &lt;br /&gt;&#13;&#10;                OFF 0.096–0.154 RPU&#13;&#10;            &lt;/Text&gt;&#13;&#10;        &lt;/Box&gt;&#13;&#10;&#13;&#10;        &lt;Text style={{ fontSize: 15, color: '#4A5568', lineHeight: 1.7, marginTop: 16 }}&gt;&#13;&#10;            三个 ON 状态的电平并不相同：单支路导通时约 3.6 或 6.5，两支路同时导通时约 10.1。数字逻辑只关心是否越过阈值，模拟求和则保留了&quot;几路在响应&quot;的信息。&#13;&#10;        &lt;/Text&gt;&#13;&#10;        &lt;Box style={{ marginTop: 12, padding: 12, background: '#F7F9FC', borderLeft: '3px solid #3D7BD9' }}&gt;&#13;&#10;            &lt;Text style={{ fontSize: 14, color: '#4A5568', lineHeight: 1.55 }}&gt;&#13;&#10;                规格要求 ON/OFF ≥ 10，实测 23.6，余量约 2.4 倍。&#13;&#10;            &lt;/Text&gt;&#13;&#10;        &lt;/Box&gt;&#13;&#10;    &lt;/Box&gt;&#13;&#10;&#13;&#10;    &lt;Box style={{ position: 'absolute', left: 40, top: 672, width: 1200, flexDirection: 'row', justifyContent: 'space-between' }}&gt;&#13;&#10;        &lt;Text style={{ fontSize: 14, color: '#8B97A8' }}&gt;《合成生物学》课程设计 · 三输入多数表决基因线路&lt;/Text&gt;&#13;&#10;        &lt;Text style={{ fontSize: 14, color: '#1E4FA8' }}&gt;08 / 13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57" name=""/>
          <p:cNvSpPr/>
          <p:nvPr/>
        </p:nvSpPr>
        <p:spPr>
          <a:xfrm rot="0" flipH="0" flipV="0">
            <a:off x="0" y="0"/>
            <a:ext cx="12192000" cy="5715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358" name=""/>
          <p:cNvSpPr/>
          <p:nvPr/>
        </p:nvSpPr>
        <p:spPr>
          <a:xfrm rot="0" flipH="0" flipV="0">
            <a:off x="381000" y="361950"/>
            <a:ext cx="57150" cy="304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59" name="" descr="{&quot;isTemplate&quot;:true,&quot;type&quot;:&quot;text&quot;}"/>
          <p:cNvSpPr txBox="1"/>
          <p:nvPr/>
        </p:nvSpPr>
        <p:spPr>
          <a:xfrm rot="0" flipH="0" flipV="0">
            <a:off x="571500" y="323850"/>
            <a:ext cx="4219575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E3F8C"/>
                </a:solidFill>
                <a:latin typeface="Microsoft YaHei"/>
                <a:ea typeface="Microsoft YaHei"/>
              </a:rPr>
              <a:t>稳态结果：</a:t>
            </a:r>
            <a:r>
              <a:rPr lang="en-US" sz="2400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8 </a:t>
            </a:r>
            <a:r>
              <a:rPr lang="zh-CN" sz="2400" b="1">
                <a:solidFill>
                  <a:srgbClr val="0E3F8C"/>
                </a:solidFill>
                <a:latin typeface="Microsoft YaHei"/>
                <a:ea typeface="Microsoft YaHei"/>
              </a:rPr>
              <a:t>种输入，</a:t>
            </a:r>
            <a:r>
              <a:rPr lang="en-US" sz="2400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8 </a:t>
            </a:r>
            <a:r>
              <a:rPr lang="zh-CN" sz="2400" b="1">
                <a:solidFill>
                  <a:srgbClr val="0E3F8C"/>
                </a:solidFill>
                <a:latin typeface="Microsoft YaHei"/>
                <a:ea typeface="Microsoft YaHei"/>
              </a:rPr>
              <a:t>种正确</a:t>
            </a:r>
            <a:endParaRPr/>
          </a:p>
        </p:txBody>
      </p:sp>
      <p:sp>
        <p:nvSpPr>
          <p:cNvPr id="360" name="" descr="{&quot;isTemplate&quot;:true,&quot;type&quot;:&quot;text&quot;}"/>
          <p:cNvSpPr txBox="1"/>
          <p:nvPr/>
        </p:nvSpPr>
        <p:spPr>
          <a:xfrm rot="0" flipH="0" flipV="0">
            <a:off x="10848975" y="533400"/>
            <a:ext cx="9620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04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　仿真与验证</a:t>
            </a:r>
            <a:endParaRPr/>
          </a:p>
        </p:txBody>
      </p:sp>
      <p:sp>
        <p:nvSpPr>
          <p:cNvPr id="361" name=""/>
          <p:cNvSpPr/>
          <p:nvPr/>
        </p:nvSpPr>
        <p:spPr>
          <a:xfrm rot="0" flipH="0" flipV="0">
            <a:off x="381000" y="876300"/>
            <a:ext cx="11430000" cy="9525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pic>
        <p:nvPicPr>
          <p:cNvPr id="362" name=""/>
          <p:cNvPicPr>
            <a:picLocks noChangeAspect="1"/>
          </p:cNvPicPr>
          <p:nvPr/>
        </p:nvPicPr>
        <p:blipFill>
          <a:blip r:embed="rId1"/>
          <a:srcRect l="31" t="0" r="31" b="0"/>
          <a:stretch>
            <a:fillRect/>
          </a:stretch>
        </p:blipFill>
        <p:spPr>
          <a:xfrm rot="0" flipH="0" flipV="0">
            <a:off x="381000" y="1047750"/>
            <a:ext cx="7239000" cy="4152900"/>
          </a:xfrm>
          <a:prstGeom prst="rect">
            <a:avLst/>
          </a:prstGeom>
          <a:ln/>
        </p:spPr>
      </p:pic>
      <p:sp>
        <p:nvSpPr>
          <p:cNvPr id="363" name="" descr="{&quot;isTemplate&quot;:true,&quot;type&quot;:&quot;text&quot;}"/>
          <p:cNvSpPr txBox="1"/>
          <p:nvPr/>
        </p:nvSpPr>
        <p:spPr>
          <a:xfrm rot="0" flipH="0" flipV="0">
            <a:off x="381000" y="5257800"/>
            <a:ext cx="723900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图</a:t>
            </a: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 xml:space="preserve"> 2</a:t>
            </a: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　</a:t>
            </a: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 xml:space="preserve">8 </a:t>
            </a: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种输入组合的稳态荧光输出；虚线为</a:t>
            </a: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 xml:space="preserve"> 1.0 RPU </a:t>
            </a: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判决阈值</a:t>
            </a:r>
            <a:endParaRPr/>
          </a:p>
        </p:txBody>
      </p:sp>
      <p:sp>
        <p:nvSpPr>
          <p:cNvPr id="364" name=""/>
          <p:cNvSpPr/>
          <p:nvPr/>
        </p:nvSpPr>
        <p:spPr>
          <a:xfrm rot="0" flipH="0" flipV="0">
            <a:off x="7905750" y="1181100"/>
            <a:ext cx="3905250" cy="1562100"/>
          </a:xfrm>
          <a:prstGeom prst="roundRect">
            <a:avLst>
              <a:gd name="adj" fmla="val 4878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365" name="" descr="{&quot;isTemplate&quot;:true,&quot;type&quot;:&quot;text&quot;}"/>
          <p:cNvSpPr txBox="1"/>
          <p:nvPr/>
        </p:nvSpPr>
        <p:spPr>
          <a:xfrm rot="0" flipH="0" flipV="0">
            <a:off x="8096250" y="1352550"/>
            <a:ext cx="3524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A9C3E8"/>
                </a:solidFill>
                <a:latin typeface="Microsoft YaHei"/>
                <a:ea typeface="Microsoft YaHei"/>
              </a:rPr>
              <a:t>逻辑正确性</a:t>
            </a:r>
            <a:endParaRPr/>
          </a:p>
        </p:txBody>
      </p:sp>
      <p:sp>
        <p:nvSpPr>
          <p:cNvPr id="366" name="" descr="{&quot;isTemplate&quot;:true,&quot;type&quot;:&quot;text&quot;}"/>
          <p:cNvSpPr txBox="1"/>
          <p:nvPr/>
        </p:nvSpPr>
        <p:spPr>
          <a:xfrm rot="0" flipH="0" flipV="0">
            <a:off x="8096250" y="1514475"/>
            <a:ext cx="3524250" cy="895350"/>
          </a:xfrm>
          <a:prstGeom prst="rect"/>
        </p:spPr>
        <p:txBody>
          <a:bodyPr wrap="none" lIns="0" tIns="0" rIns="0" bIns="0"/>
          <a:p>
            <a:pPr>
              <a:lnSpc>
                <a:spcPct val="105000"/>
              </a:lnSpc>
            </a:pPr>
            <a:r>
              <a:rPr lang="en-US" sz="5550" b="1">
                <a:solidFill>
                  <a:srgbClr val="FFFFFF"/>
                </a:solidFill>
                <a:latin typeface="Microsoft YaHei"/>
                <a:ea typeface="Microsoft YaHei"/>
              </a:rPr>
              <a:t>8/8</a:t>
            </a:r>
            <a:endParaRPr/>
          </a:p>
        </p:txBody>
      </p:sp>
      <p:sp>
        <p:nvSpPr>
          <p:cNvPr id="367" name="" descr="{&quot;isTemplate&quot;:true,&quot;type&quot;:&quot;text&quot;}"/>
          <p:cNvSpPr txBox="1"/>
          <p:nvPr/>
        </p:nvSpPr>
        <p:spPr>
          <a:xfrm rot="0" flipH="0" flipV="0">
            <a:off x="8096250" y="2409825"/>
            <a:ext cx="3524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D5E3F6"/>
                </a:solidFill>
                <a:latin typeface="Microsoft YaHei"/>
                <a:ea typeface="Microsoft YaHei"/>
              </a:rPr>
              <a:t>全部输入组合判定正确</a:t>
            </a:r>
            <a:endParaRPr/>
          </a:p>
        </p:txBody>
      </p:sp>
      <p:sp>
        <p:nvSpPr>
          <p:cNvPr id="368" name=""/>
          <p:cNvSpPr/>
          <p:nvPr/>
        </p:nvSpPr>
        <p:spPr>
          <a:xfrm rot="0" flipH="0" flipV="0">
            <a:off x="7905750" y="2876550"/>
            <a:ext cx="3905250" cy="1600200"/>
          </a:xfrm>
          <a:prstGeom prst="roundRect">
            <a:avLst>
              <a:gd name="adj" fmla="val 4762"/>
            </a:avLst>
          </a:prstGeom>
          <a:solidFill>
            <a:srgbClr val="F0F5FC"/>
          </a:solidFill>
          <a:ln w="12700">
            <a:solidFill>
              <a:srgbClr val="C7D8EF"/>
            </a:solidFill>
            <a:prstDash val="solid"/>
          </a:ln>
        </p:spPr>
        <p:txBody>
          <a:bodyPr/>
          <a:p/>
        </p:txBody>
      </p:sp>
      <p:sp>
        <p:nvSpPr>
          <p:cNvPr id="369" name="" descr="{&quot;isTemplate&quot;:true,&quot;type&quot;:&quot;text&quot;}"/>
          <p:cNvSpPr txBox="1"/>
          <p:nvPr/>
        </p:nvSpPr>
        <p:spPr>
          <a:xfrm rot="0" flipH="0" flipV="0">
            <a:off x="8096250" y="3028950"/>
            <a:ext cx="3524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ON / OFF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比值</a:t>
            </a:r>
            <a:endParaRPr/>
          </a:p>
        </p:txBody>
      </p:sp>
      <p:sp>
        <p:nvSpPr>
          <p:cNvPr id="370" name="" descr="{&quot;isTemplate&quot;:true,&quot;type&quot;:&quot;text&quot;}"/>
          <p:cNvSpPr txBox="1"/>
          <p:nvPr/>
        </p:nvSpPr>
        <p:spPr>
          <a:xfrm rot="0" flipH="0" flipV="0">
            <a:off x="8096250" y="3190875"/>
            <a:ext cx="3524250" cy="58102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3450" b="1">
                <a:solidFill>
                  <a:srgbClr val="1E4FA8"/>
                </a:solidFill>
                <a:latin typeface="Microsoft YaHei"/>
                <a:ea typeface="Microsoft YaHei"/>
              </a:rPr>
              <a:t>23.6×</a:t>
            </a:r>
            <a:endParaRPr/>
          </a:p>
        </p:txBody>
      </p:sp>
      <p:sp>
        <p:nvSpPr>
          <p:cNvPr id="371" name="" descr="{&quot;isTemplate&quot;:true,&quot;type&quot;:&quot;text&quot;}"/>
          <p:cNvSpPr txBox="1"/>
          <p:nvPr/>
        </p:nvSpPr>
        <p:spPr>
          <a:xfrm rot="0" flipH="0" flipV="0">
            <a:off x="8096250" y="3810000"/>
            <a:ext cx="3524250" cy="5143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ON 3.65–10.11 RPU</a:t>
            </a:r>
            <a:endParaRPr/>
          </a:p>
          <a:p>
            <a:pPr>
              <a:lnSpc>
                <a:spcPct val="160000"/>
              </a:lnSpc>
            </a:pP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OFF 0.096–0.154 RPU</a:t>
            </a:r>
            <a:endParaRPr/>
          </a:p>
        </p:txBody>
      </p:sp>
      <p:sp>
        <p:nvSpPr>
          <p:cNvPr id="372" name="" descr="{&quot;isTemplate&quot;:true,&quot;type&quot;:&quot;text&quot;}"/>
          <p:cNvSpPr txBox="1"/>
          <p:nvPr/>
        </p:nvSpPr>
        <p:spPr>
          <a:xfrm rot="0" flipH="0" flipV="0">
            <a:off x="7905750" y="4629150"/>
            <a:ext cx="3905250" cy="876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三个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ON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状态的电平并不相同：单支路导通时约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3.6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或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6.5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，两支路同时导通时约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10.1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。数字逻辑只关心是否越过阈值，模拟求和则保留了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几路在响应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的信息。</a:t>
            </a:r>
            <a:endParaRPr/>
          </a:p>
        </p:txBody>
      </p:sp>
      <p:sp>
        <p:nvSpPr>
          <p:cNvPr id="373" name=""/>
          <p:cNvSpPr/>
          <p:nvPr/>
        </p:nvSpPr>
        <p:spPr>
          <a:xfrm rot="0" flipH="0" flipV="0">
            <a:off x="7934325" y="5619750"/>
            <a:ext cx="3905250" cy="485775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374" name=""/>
          <p:cNvSpPr/>
          <p:nvPr/>
        </p:nvSpPr>
        <p:spPr>
          <a:xfrm rot="0" flipH="0" flipV="0">
            <a:off x="7905750" y="5619750"/>
            <a:ext cx="3933825" cy="485775"/>
          </a:xfrm>
          <a:custGeom>
            <a:pathLst>
              <a:path w="413" h="51">
                <a:moveTo>
                  <a:pt x="0" y="0"/>
                </a:moveTo>
                <a:lnTo>
                  <a:pt x="3" y="0"/>
                </a:lnTo>
                <a:lnTo>
                  <a:pt x="3" y="51"/>
                </a:lnTo>
                <a:lnTo>
                  <a:pt x="0" y="51"/>
                </a:lnTo>
                <a:close/>
              </a:path>
            </a:pathLst>
          </a:custGeom>
          <a:solidFill>
            <a:srgbClr val="3D7BD9"/>
          </a:solidFill>
          <a:ln/>
        </p:spPr>
        <p:txBody>
          <a:bodyPr/>
          <a:p/>
        </p:txBody>
      </p:sp>
      <p:sp>
        <p:nvSpPr>
          <p:cNvPr id="375" name="" descr="{&quot;isTemplate&quot;:true,&quot;type&quot;:&quot;text&quot;}"/>
          <p:cNvSpPr txBox="1"/>
          <p:nvPr/>
        </p:nvSpPr>
        <p:spPr>
          <a:xfrm rot="0" flipH="0" flipV="0">
            <a:off x="8048625" y="5734050"/>
            <a:ext cx="3648075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规格要求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 xml:space="preserve"> ON/OFF ≥ 10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，实测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 xml:space="preserve"> 23.6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，余量约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 xml:space="preserve"> 2.4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倍。</a:t>
            </a:r>
            <a:endParaRPr/>
          </a:p>
        </p:txBody>
      </p:sp>
      <p:sp>
        <p:nvSpPr>
          <p:cNvPr id="376" name="" descr="{&quot;isTemplate&quot;:true,&quot;type&quot;:&quot;text&quot;}"/>
          <p:cNvSpPr txBox="1"/>
          <p:nvPr/>
        </p:nvSpPr>
        <p:spPr>
          <a:xfrm rot="0" flipH="0" flipV="0">
            <a:off x="381000" y="6400800"/>
            <a:ext cx="3048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《合成生物学》课程设计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三输入多数表决基因线路</a:t>
            </a:r>
            <a:endParaRPr/>
          </a:p>
        </p:txBody>
      </p:sp>
      <p:sp>
        <p:nvSpPr>
          <p:cNvPr id="377" name="" descr="{&quot;isTemplate&quot;:true,&quot;type&quot;:&quot;text&quot;}"/>
          <p:cNvSpPr txBox="1"/>
          <p:nvPr/>
        </p:nvSpPr>
        <p:spPr>
          <a:xfrm rot="0" flipH="0" flipV="0">
            <a:off x="113538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E4FA8"/>
                </a:solidFill>
                <a:latin typeface="Microsoft YaHei"/>
                <a:ea typeface="Microsoft YaHei"/>
              </a:rPr>
              <a:t>08 / 13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378" name="" descr="&lt;Slide style={{ width: 1280, height: 720, background: '#FFFFFF', fontFamily: 'Microsoft YaHei', position: 'relative' }}&gt;&#13;&#10;    &lt;Box style={{ position: 'absolute', left: 0, top: 0, width: 1280, height: 6, background: '#0E3F8C' }} /&gt;&#13;&#10;    &lt;Box style={{ position: 'absolute', left: 40, top: 34, width: 1200, flexDirection: 'row', alignItems: 'flex-end', justifyContent: 'space-between' }}&gt;&#13;&#10;        &lt;Box style={{ flexDirection: 'row', alignItems: 'center', gap: 14 }}&gt;&#13;&#10;            &lt;Box style={{ width: 6, height: 32, background: '#1E4FA8' }} /&gt;&#13;&#10;            &lt;Text style={{ fontSize: 32, fontWeight: 'bold', color: '#0E3F8C' }}&gt;时序响应：快是相对的，慢是结构性的&lt;/Text&gt;&#13;&#10;        &lt;/Box&gt;&#13;&#10;        &lt;Text style={{ fontSize: 14, color: '#8B97A8' }}&gt;04　仿真与验证&lt;/Text&gt;&#13;&#10;    &lt;/Box&gt;&#13;&#10;    &lt;Box style={{ position: 'absolute', left: 40, top: 92, width: 1200, height: 1, background: '#D6DCE5' }} /&gt;&#13;&#10;&#13;&#10;    &lt;Box style={{ position: 'absolute', left: 40, top: 110, width: 710, height: 463 }}&gt;&#13;&#10;        &lt;Image src=&quot;assets/timecourse.png&quot; style={{ width: 710, height: 463, objectFit: 'contain' }} /&gt;&#13;&#10;    &lt;/Box&gt;&#13;&#10;    &lt;Box style={{ position: 'absolute', left: 40, top: 580, width: 710 }}&gt;&#13;&#10;        &lt;Text style={{ fontSize: 13, color: '#8B97A8', textAlign: 'center' }}&gt;&#13;&#10;            图 3　输入切换下的输出响应；虚线为判决阈值&#13;&#10;        &lt;/Text&gt;&#13;&#10;    &lt;/Box&gt;&#13;&#10;&#13;&#10;    &lt;Box style={{ position: 'absolute', left: 790, top: 118, width: 450 }}&gt;&#13;&#10;        &lt;Box style={{ padding: '18px 20px', background: '#0E3F8C', borderRadius: 8 }}&gt;&#13;&#10;            &lt;Text style={{ fontSize: 14, color: '#A9C3E8' }}&gt;OFF→ON 上升时间（10%–90%）&lt;/Text&gt;&#13;&#10;            &lt;Box style={{ flexDirection: 'row', alignItems: 'flex-end', gap: 8 }}&gt;&#13;&#10;                &lt;Text style={{ fontSize: 68, color: '#FFFFFF', fontWeight: 'bold', lineHeight: 1.1 }}&gt;110.5&lt;/Text&gt;&#13;&#10;                &lt;Text style={{ fontSize: 20, color: '#D5E3F6', marginBottom: 12 }}&gt;min&lt;/Text&gt;&#13;&#10;            &lt;/Box&gt;&#13;&#10;            &lt;Text style={{ fontSize: 14, color: '#D5E3F6' }}&gt;两次 OFF→ON 跳变的均值&lt;/Text&gt;&#13;&#10;        &lt;/Box&gt;&#13;&#10;&#13;&#10;        &lt;Box style={{ marginTop: 16 }}&gt;&#13;&#10;            {[&#13;&#10;                { k: '单门时间常数', v: '43.3 min' },&#13;&#10;                { k: '级联层数', v: '3 层' },&#13;&#10;                { k: '延迟来源', v: '每层弛豫叠加' },&#13;&#10;            ].map((it) =&gt; (&#13;&#10;                &lt;Box style={{ flexDirection: 'row', justifyContent: 'space-between', paddingTop: 10, paddingBottom: 10, borderBottom: '1px solid #E5E7EB' }}&gt;&#13;&#10;                    &lt;Text style={{ fontSize: 16, color: '#4A5568' }}&gt;{it.k}&lt;/Text&gt;&#13;&#10;                    &lt;Text style={{ fontSize: 16, color: '#0E3F8C', fontWeight: 'bold' }}&gt;{it.v}&lt;/Text&gt;&#13;&#10;                &lt;/Box&gt;&#13;&#10;            ))}&#13;&#10;        &lt;/Box&gt;&#13;&#10;&#13;&#10;        &lt;Box style={{ marginTop: 16, padding: 14, background: '#FDF3F2', borderLeft: '4px solid #D9534F' }}&gt;&#13;&#10;            &lt;Text style={{ fontSize: 15, color: '#1A2230', lineHeight: 1.65 }}&gt;&#13;&#10;                实验含义：若只观察 2 h，很可能在信号尚未建立时判为&quot;电路不工作&quot;。取样应&lt;span style={{ fontWeight: 'bold', color: '#D9534F' }}&gt;不早于 4 h&lt;/span&gt;，并取 2/4/6 h 三个点看是否到稳。&#13;&#10;            &lt;/Text&gt;&#13;&#10;        &lt;/Box&gt;&#13;&#10;    &lt;/Box&gt;&#13;&#10;&#13;&#10;    &lt;Box style={{ position: 'absolute', left: 40, top: 672, width: 1200, flexDirection: 'row', justifyContent: 'space-between' }}&gt;&#13;&#10;        &lt;Text style={{ fontSize: 14, color: '#8B97A8' }}&gt;《合成生物学》课程设计 · 三输入多数表决基因线路&lt;/Text&gt;&#13;&#10;        &lt;Text style={{ fontSize: 14, color: '#1E4FA8' }}&gt;09 / 13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80" name=""/>
          <p:cNvSpPr/>
          <p:nvPr/>
        </p:nvSpPr>
        <p:spPr>
          <a:xfrm rot="0" flipH="0" flipV="0">
            <a:off x="0" y="0"/>
            <a:ext cx="12192000" cy="5715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381" name=""/>
          <p:cNvSpPr/>
          <p:nvPr/>
        </p:nvSpPr>
        <p:spPr>
          <a:xfrm rot="0" flipH="0" flipV="0">
            <a:off x="381000" y="361950"/>
            <a:ext cx="57150" cy="304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82" name="" descr="{&quot;isTemplate&quot;:true,&quot;type&quot;:&quot;text&quot;}"/>
          <p:cNvSpPr txBox="1"/>
          <p:nvPr/>
        </p:nvSpPr>
        <p:spPr>
          <a:xfrm rot="0" flipH="0" flipV="0">
            <a:off x="571500" y="323850"/>
            <a:ext cx="51816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E3F8C"/>
                </a:solidFill>
                <a:latin typeface="Microsoft YaHei"/>
                <a:ea typeface="Microsoft YaHei"/>
              </a:rPr>
              <a:t>时序响应：快是相对的，慢是结构性的</a:t>
            </a:r>
            <a:endParaRPr/>
          </a:p>
        </p:txBody>
      </p:sp>
      <p:sp>
        <p:nvSpPr>
          <p:cNvPr id="383" name="" descr="{&quot;isTemplate&quot;:true,&quot;type&quot;:&quot;text&quot;}"/>
          <p:cNvSpPr txBox="1"/>
          <p:nvPr/>
        </p:nvSpPr>
        <p:spPr>
          <a:xfrm rot="0" flipH="0" flipV="0">
            <a:off x="10848975" y="533400"/>
            <a:ext cx="9620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04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　仿真与验证</a:t>
            </a:r>
            <a:endParaRPr/>
          </a:p>
        </p:txBody>
      </p:sp>
      <p:sp>
        <p:nvSpPr>
          <p:cNvPr id="384" name=""/>
          <p:cNvSpPr/>
          <p:nvPr/>
        </p:nvSpPr>
        <p:spPr>
          <a:xfrm rot="0" flipH="0" flipV="0">
            <a:off x="381000" y="876300"/>
            <a:ext cx="11430000" cy="9525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pic>
        <p:nvPicPr>
          <p:cNvPr id="385" name=""/>
          <p:cNvPicPr>
            <a:picLocks noChangeAspect="1"/>
          </p:cNvPicPr>
          <p:nvPr/>
        </p:nvPicPr>
        <p:blipFill>
          <a:blip r:embed="rId1"/>
          <a:srcRect l="26" t="0" r="26" b="0"/>
          <a:stretch>
            <a:fillRect/>
          </a:stretch>
        </p:blipFill>
        <p:spPr>
          <a:xfrm rot="0" flipH="0" flipV="0">
            <a:off x="381000" y="1047750"/>
            <a:ext cx="6762750" cy="4410075"/>
          </a:xfrm>
          <a:prstGeom prst="rect">
            <a:avLst/>
          </a:prstGeom>
          <a:ln/>
        </p:spPr>
      </p:pic>
      <p:sp>
        <p:nvSpPr>
          <p:cNvPr id="386" name="" descr="{&quot;isTemplate&quot;:true,&quot;type&quot;:&quot;text&quot;}"/>
          <p:cNvSpPr txBox="1"/>
          <p:nvPr/>
        </p:nvSpPr>
        <p:spPr>
          <a:xfrm rot="0" flipH="0" flipV="0">
            <a:off x="381000" y="5524500"/>
            <a:ext cx="676275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图</a:t>
            </a: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 xml:space="preserve"> 3</a:t>
            </a: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　输入切换下的输出响应；虚线为判决阈值</a:t>
            </a:r>
            <a:endParaRPr/>
          </a:p>
        </p:txBody>
      </p:sp>
      <p:sp>
        <p:nvSpPr>
          <p:cNvPr id="387" name=""/>
          <p:cNvSpPr/>
          <p:nvPr/>
        </p:nvSpPr>
        <p:spPr>
          <a:xfrm rot="0" flipH="0" flipV="0">
            <a:off x="7524750" y="1123950"/>
            <a:ext cx="4286250" cy="1524000"/>
          </a:xfrm>
          <a:prstGeom prst="roundRect">
            <a:avLst>
              <a:gd name="adj" fmla="val 5000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388" name="" descr="{&quot;isTemplate&quot;:true,&quot;type&quot;:&quot;text&quot;}"/>
          <p:cNvSpPr txBox="1"/>
          <p:nvPr/>
        </p:nvSpPr>
        <p:spPr>
          <a:xfrm rot="0" flipH="0" flipV="0">
            <a:off x="7715250" y="1295400"/>
            <a:ext cx="3905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A9C3E8"/>
                </a:solidFill>
                <a:latin typeface="Microsoft YaHei"/>
                <a:ea typeface="Microsoft YaHei"/>
              </a:rPr>
              <a:t xml:space="preserve">OFF→ON </a:t>
            </a:r>
            <a:r>
              <a:rPr lang="zh-CN" sz="1050">
                <a:solidFill>
                  <a:srgbClr val="A9C3E8"/>
                </a:solidFill>
                <a:latin typeface="Microsoft YaHei"/>
                <a:ea typeface="Microsoft YaHei"/>
              </a:rPr>
              <a:t>上升时间（</a:t>
            </a:r>
            <a:r>
              <a:rPr lang="en-US" sz="1050">
                <a:solidFill>
                  <a:srgbClr val="A9C3E8"/>
                </a:solidFill>
                <a:latin typeface="Microsoft YaHei"/>
                <a:ea typeface="Microsoft YaHei"/>
              </a:rPr>
              <a:t>10%–90%</a:t>
            </a:r>
            <a:r>
              <a:rPr lang="zh-CN" sz="1050">
                <a:solidFill>
                  <a:srgbClr val="A9C3E8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389" name="" descr="{&quot;isTemplate&quot;:true,&quot;type&quot;:&quot;text&quot;}"/>
          <p:cNvSpPr txBox="1"/>
          <p:nvPr/>
        </p:nvSpPr>
        <p:spPr>
          <a:xfrm rot="0" flipH="0" flipV="0">
            <a:off x="7715250" y="1457325"/>
            <a:ext cx="1790700" cy="857250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5100" b="1">
                <a:solidFill>
                  <a:srgbClr val="FFFFFF"/>
                </a:solidFill>
                <a:latin typeface="Microsoft YaHei"/>
                <a:ea typeface="Microsoft YaHei"/>
              </a:rPr>
              <a:t>110.5</a:t>
            </a:r>
            <a:endParaRPr/>
          </a:p>
        </p:txBody>
      </p:sp>
      <p:sp>
        <p:nvSpPr>
          <p:cNvPr id="390" name="" descr="{&quot;isTemplate&quot;:true,&quot;type&quot;:&quot;text&quot;}"/>
          <p:cNvSpPr txBox="1"/>
          <p:nvPr/>
        </p:nvSpPr>
        <p:spPr>
          <a:xfrm rot="0" flipH="0" flipV="0">
            <a:off x="9582150" y="1971675"/>
            <a:ext cx="3524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D5E3F6"/>
                </a:solidFill>
                <a:latin typeface="Microsoft YaHei"/>
                <a:ea typeface="Microsoft YaHei"/>
              </a:rPr>
              <a:t>min</a:t>
            </a:r>
            <a:endParaRPr/>
          </a:p>
        </p:txBody>
      </p:sp>
      <p:sp>
        <p:nvSpPr>
          <p:cNvPr id="391" name="" descr="{&quot;isTemplate&quot;:true,&quot;type&quot;:&quot;text&quot;}"/>
          <p:cNvSpPr txBox="1"/>
          <p:nvPr/>
        </p:nvSpPr>
        <p:spPr>
          <a:xfrm rot="0" flipH="0" flipV="0">
            <a:off x="7715250" y="2314575"/>
            <a:ext cx="3905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D5E3F6"/>
                </a:solidFill>
                <a:latin typeface="Microsoft YaHei"/>
                <a:ea typeface="Microsoft YaHei"/>
              </a:rPr>
              <a:t>两次</a:t>
            </a:r>
            <a:r>
              <a:rPr lang="en-US" sz="1050">
                <a:solidFill>
                  <a:srgbClr val="D5E3F6"/>
                </a:solidFill>
                <a:latin typeface="Microsoft YaHei"/>
                <a:ea typeface="Microsoft YaHei"/>
              </a:rPr>
              <a:t xml:space="preserve"> OFF→ON </a:t>
            </a:r>
            <a:r>
              <a:rPr lang="zh-CN" sz="1050">
                <a:solidFill>
                  <a:srgbClr val="D5E3F6"/>
                </a:solidFill>
                <a:latin typeface="Microsoft YaHei"/>
                <a:ea typeface="Microsoft YaHei"/>
              </a:rPr>
              <a:t>跳变的均值</a:t>
            </a:r>
            <a:endParaRPr/>
          </a:p>
        </p:txBody>
      </p:sp>
      <p:sp>
        <p:nvSpPr>
          <p:cNvPr id="392" name=""/>
          <p:cNvSpPr/>
          <p:nvPr/>
        </p:nvSpPr>
        <p:spPr>
          <a:xfrm rot="0" flipH="0" flipV="0">
            <a:off x="7524750" y="2800350"/>
            <a:ext cx="4286250" cy="400050"/>
          </a:xfrm>
          <a:custGeom>
            <a:pathLst>
              <a:path w="450" h="42">
                <a:moveTo>
                  <a:pt x="0" y="41"/>
                </a:moveTo>
                <a:lnTo>
                  <a:pt x="450" y="41"/>
                </a:lnTo>
                <a:lnTo>
                  <a:pt x="450" y="42"/>
                </a:lnTo>
                <a:lnTo>
                  <a:pt x="0" y="42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393" name="" descr="{&quot;isTemplate&quot;:true,&quot;type&quot;:&quot;text&quot;}"/>
          <p:cNvSpPr txBox="1"/>
          <p:nvPr/>
        </p:nvSpPr>
        <p:spPr>
          <a:xfrm rot="0" flipH="0" flipV="0">
            <a:off x="7524750" y="2895600"/>
            <a:ext cx="914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单门时间常数</a:t>
            </a:r>
            <a:endParaRPr/>
          </a:p>
        </p:txBody>
      </p:sp>
      <p:sp>
        <p:nvSpPr>
          <p:cNvPr id="394" name="" descr="{&quot;isTemplate&quot;:true,&quot;type&quot;:&quot;text&quot;}"/>
          <p:cNvSpPr txBox="1"/>
          <p:nvPr/>
        </p:nvSpPr>
        <p:spPr>
          <a:xfrm rot="0" flipH="0" flipV="0">
            <a:off x="11144250" y="2895600"/>
            <a:ext cx="666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E3F8C"/>
                </a:solidFill>
                <a:latin typeface="Microsoft YaHei"/>
                <a:ea typeface="Microsoft YaHei"/>
              </a:rPr>
              <a:t>43.3 min</a:t>
            </a:r>
            <a:endParaRPr/>
          </a:p>
        </p:txBody>
      </p:sp>
      <p:sp>
        <p:nvSpPr>
          <p:cNvPr id="395" name=""/>
          <p:cNvSpPr/>
          <p:nvPr/>
        </p:nvSpPr>
        <p:spPr>
          <a:xfrm rot="0" flipH="0" flipV="0">
            <a:off x="7524750" y="3190875"/>
            <a:ext cx="4286250" cy="400050"/>
          </a:xfrm>
          <a:custGeom>
            <a:pathLst>
              <a:path w="450" h="42">
                <a:moveTo>
                  <a:pt x="0" y="41"/>
                </a:moveTo>
                <a:lnTo>
                  <a:pt x="450" y="41"/>
                </a:lnTo>
                <a:lnTo>
                  <a:pt x="450" y="42"/>
                </a:lnTo>
                <a:lnTo>
                  <a:pt x="0" y="42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396" name="" descr="{&quot;isTemplate&quot;:true,&quot;type&quot;:&quot;text&quot;}"/>
          <p:cNvSpPr txBox="1"/>
          <p:nvPr/>
        </p:nvSpPr>
        <p:spPr>
          <a:xfrm rot="0" flipH="0" flipV="0">
            <a:off x="7524750" y="3286125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级联层数</a:t>
            </a:r>
            <a:endParaRPr/>
          </a:p>
        </p:txBody>
      </p:sp>
      <p:sp>
        <p:nvSpPr>
          <p:cNvPr id="397" name="" descr="{&quot;isTemplate&quot;:true,&quot;type&quot;:&quot;text&quot;}"/>
          <p:cNvSpPr txBox="1"/>
          <p:nvPr/>
        </p:nvSpPr>
        <p:spPr>
          <a:xfrm rot="0" flipH="0" flipV="0">
            <a:off x="11515725" y="3286125"/>
            <a:ext cx="2952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3 </a:t>
            </a:r>
            <a:r>
              <a:rPr lang="zh-CN" sz="1200" b="1">
                <a:solidFill>
                  <a:srgbClr val="0E3F8C"/>
                </a:solidFill>
                <a:latin typeface="Microsoft YaHei"/>
                <a:ea typeface="Microsoft YaHei"/>
              </a:rPr>
              <a:t>层</a:t>
            </a:r>
            <a:endParaRPr/>
          </a:p>
        </p:txBody>
      </p:sp>
      <p:sp>
        <p:nvSpPr>
          <p:cNvPr id="398" name=""/>
          <p:cNvSpPr/>
          <p:nvPr/>
        </p:nvSpPr>
        <p:spPr>
          <a:xfrm rot="0" flipH="0" flipV="0">
            <a:off x="7524750" y="3581400"/>
            <a:ext cx="4286250" cy="400050"/>
          </a:xfrm>
          <a:custGeom>
            <a:pathLst>
              <a:path w="450" h="42">
                <a:moveTo>
                  <a:pt x="0" y="41"/>
                </a:moveTo>
                <a:lnTo>
                  <a:pt x="450" y="41"/>
                </a:lnTo>
                <a:lnTo>
                  <a:pt x="450" y="42"/>
                </a:lnTo>
                <a:lnTo>
                  <a:pt x="0" y="42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399" name="" descr="{&quot;isTemplate&quot;:true,&quot;type&quot;:&quot;text&quot;}"/>
          <p:cNvSpPr txBox="1"/>
          <p:nvPr/>
        </p:nvSpPr>
        <p:spPr>
          <a:xfrm rot="0" flipH="0" flipV="0">
            <a:off x="7524750" y="3676650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延迟来源</a:t>
            </a:r>
            <a:endParaRPr/>
          </a:p>
        </p:txBody>
      </p:sp>
      <p:sp>
        <p:nvSpPr>
          <p:cNvPr id="400" name="" descr="{&quot;isTemplate&quot;:true,&quot;type&quot;:&quot;text&quot;}"/>
          <p:cNvSpPr txBox="1"/>
          <p:nvPr/>
        </p:nvSpPr>
        <p:spPr>
          <a:xfrm rot="0" flipH="0" flipV="0">
            <a:off x="10896600" y="3676650"/>
            <a:ext cx="914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E3F8C"/>
                </a:solidFill>
                <a:latin typeface="Microsoft YaHei"/>
                <a:ea typeface="Microsoft YaHei"/>
              </a:rPr>
              <a:t>每层弛豫叠加</a:t>
            </a:r>
            <a:endParaRPr/>
          </a:p>
        </p:txBody>
      </p:sp>
      <p:sp>
        <p:nvSpPr>
          <p:cNvPr id="401" name=""/>
          <p:cNvSpPr/>
          <p:nvPr/>
        </p:nvSpPr>
        <p:spPr>
          <a:xfrm rot="0" flipH="0" flipV="0">
            <a:off x="7562850" y="4124325"/>
            <a:ext cx="4286250" cy="1123950"/>
          </a:xfrm>
          <a:prstGeom prst="rect">
            <a:avLst/>
          </a:prstGeom>
          <a:solidFill>
            <a:srgbClr val="FDF3F2"/>
          </a:solidFill>
          <a:ln/>
        </p:spPr>
        <p:txBody>
          <a:bodyPr/>
          <a:p/>
        </p:txBody>
      </p:sp>
      <p:sp>
        <p:nvSpPr>
          <p:cNvPr id="402" name=""/>
          <p:cNvSpPr/>
          <p:nvPr/>
        </p:nvSpPr>
        <p:spPr>
          <a:xfrm rot="0" flipH="0" flipV="0">
            <a:off x="7524750" y="4124325"/>
            <a:ext cx="4324350" cy="1123950"/>
          </a:xfrm>
          <a:custGeom>
            <a:pathLst>
              <a:path w="454" h="118">
                <a:moveTo>
                  <a:pt x="0" y="0"/>
                </a:moveTo>
                <a:lnTo>
                  <a:pt x="4" y="0"/>
                </a:lnTo>
                <a:lnTo>
                  <a:pt x="4" y="118"/>
                </a:lnTo>
                <a:lnTo>
                  <a:pt x="0" y="118"/>
                </a:lnTo>
                <a:close/>
              </a:path>
            </a:pathLst>
          </a:custGeom>
          <a:solidFill>
            <a:srgbClr val="D9534F"/>
          </a:solidFill>
          <a:ln/>
        </p:spPr>
        <p:txBody>
          <a:bodyPr/>
          <a:p/>
        </p:txBody>
      </p:sp>
      <p:sp>
        <p:nvSpPr>
          <p:cNvPr id="403" name="" descr="{&quot;isTemplate&quot;:true,&quot;type&quot;:&quot;text&quot;}"/>
          <p:cNvSpPr txBox="1"/>
          <p:nvPr/>
        </p:nvSpPr>
        <p:spPr>
          <a:xfrm rot="0" flipH="0" flipV="0">
            <a:off x="7696200" y="4257675"/>
            <a:ext cx="3981450" cy="857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实验含义：若只观察</a:t>
            </a: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 2 h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，很可能在信号尚未建立时判为</a:t>
            </a: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电路不工作</a:t>
            </a: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。取样应</a:t>
            </a:r>
            <a:r>
              <a:rPr lang="zh-CN" sz="1125" b="1">
                <a:solidFill>
                  <a:srgbClr val="D9534F"/>
                </a:solidFill>
                <a:latin typeface="Microsoft YaHei"/>
                <a:ea typeface="Microsoft YaHei"/>
              </a:rPr>
              <a:t>不早于</a:t>
            </a:r>
            <a:r>
              <a:rPr lang="en-US" sz="1125" b="1">
                <a:solidFill>
                  <a:srgbClr val="D9534F"/>
                </a:solidFill>
                <a:latin typeface="Microsoft YaHei"/>
                <a:ea typeface="Microsoft YaHei"/>
              </a:rPr>
              <a:t xml:space="preserve"> 4 h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，并取</a:t>
            </a: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 2/4/6 h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三个点看是否到稳。</a:t>
            </a:r>
            <a:endParaRPr/>
          </a:p>
        </p:txBody>
      </p:sp>
      <p:sp>
        <p:nvSpPr>
          <p:cNvPr id="404" name="" descr="{&quot;isTemplate&quot;:true,&quot;type&quot;:&quot;text&quot;}"/>
          <p:cNvSpPr txBox="1"/>
          <p:nvPr/>
        </p:nvSpPr>
        <p:spPr>
          <a:xfrm rot="0" flipH="0" flipV="0">
            <a:off x="381000" y="6400800"/>
            <a:ext cx="3048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《合成生物学》课程设计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三输入多数表决基因线路</a:t>
            </a:r>
            <a:endParaRPr/>
          </a:p>
        </p:txBody>
      </p:sp>
      <p:sp>
        <p:nvSpPr>
          <p:cNvPr id="405" name="" descr="{&quot;isTemplate&quot;:true,&quot;type&quot;:&quot;text&quot;}"/>
          <p:cNvSpPr txBox="1"/>
          <p:nvPr/>
        </p:nvSpPr>
        <p:spPr>
          <a:xfrm rot="0" flipH="0" flipV="0">
            <a:off x="113538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E4FA8"/>
                </a:solidFill>
                <a:latin typeface="Microsoft YaHei"/>
                <a:ea typeface="Microsoft YaHei"/>
              </a:rPr>
              <a:t>09 / 13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7" name="" descr="&lt;Slide style={{ width: 1280, height: 720, background: '#FFFFFF', fontFamily: 'Microsoft YaHei', position: 'relative' }}&gt;&#13;&#10;    &lt;Box style={{ position: 'absolute', left: 0, top: 0, width: 1280, height: 6, background: '#0E3F8C' }} /&gt;&#13;&#10;    &lt;Box style={{ position: 'absolute', left: 40, top: 34, width: 1200, flexDirection: 'row', alignItems: 'flex-end', justifyContent: 'space-between' }}&gt;&#13;&#10;        &lt;Box style={{ flexDirection: 'row', alignItems: 'center', gap: 14 }}&gt;&#13;&#10;            &lt;Box style={{ width: 6, height: 32, background: '#1E4FA8' }} /&gt;&#13;&#10;            &lt;Text style={{ fontSize: 32, fontWeight: 'bold', color: '#0E3F8C' }}&gt;鲁棒性：三个边界，一个隐患&lt;/Text&gt;&#13;&#10;        &lt;/Box&gt;&#13;&#10;        &lt;Text style={{ fontSize: 14, color: '#8B97A8' }}&gt;04　仿真与验证&lt;/Text&gt;&#13;&#10;    &lt;/Box&gt;&#13;&#10;    &lt;Box style={{ position: 'absolute', left: 40, top: 92, width: 1200, height: 1, background: '#D6DCE5' }} /&gt;&#13;&#10;&#13;&#10;    &lt;Box style={{ position: 'absolute', left: 40, top: 110, width: 700 }}&gt;&#13;&#10;        &lt;Image src=&quot;assets/robustness.png&quot; style={{ width: 700, height: 498, objectFit: 'contain' }} /&gt;&#13;&#10;        &lt;Text style={{ fontSize: 13, color: '#8B97A8', textAlign: 'center', marginTop: 2 }}&gt;&#13;&#10;            图 4　四类扰动下的逻辑正确性与误判率&#13;&#10;        &lt;/Text&gt;&#13;&#10;    &lt;/Box&gt;&#13;&#10;&#13;&#10;    &lt;Box style={{ position: 'absolute', left: 770, top: 114, width: 470 }}&gt;&#13;&#10;        {[&#13;&#10;            { v: '100%', k: '参数 ±15% 扰动', d: '300 组样本全部保持 8/8 正确；ON/OFF 中位数 21.3' },&#13;&#10;            { v: '≥ 0.6', k: '输入工作窗口（RPU）', d: '低于 0.4 失效；上限扫描至 3.0 仍正常' },&#13;&#10;            { v: '0.2%', k: '误判率（输入噪声 10%）', d: '噪声 20% 时升至 4.4%，25% 时约 6%' },&#13;&#10;        ].map((it) =&gt; (&#13;&#10;            &lt;Box style={{ paddingTop: 12, paddingBottom: 12, borderBottom: '1px solid #E5E7EB' }}&gt;&#13;&#10;                &lt;Box style={{ flexDirection: 'row', alignItems: 'flex-end', gap: 10 }}&gt;&#13;&#10;                    &lt;Text style={{ fontSize: 40, color: '#0E3F8C', fontWeight: 'bold', lineHeight: 1.1 }}&gt;{it.v}&lt;/Text&gt;&#13;&#10;                    &lt;Text style={{ fontSize: 15, color: '#4A5568', marginBottom: 6 }}&gt;{it.k}&lt;/Text&gt;&#13;&#10;                &lt;/Box&gt;&#13;&#10;                &lt;Text style={{ fontSize: 14, color: '#8B97A8', marginTop: 3, lineHeight: 1.55 }}&gt;{it.d}&lt;/Text&gt;&#13;&#10;            &lt;/Box&gt;&#13;&#10;        ))}&#13;&#10;&#13;&#10;        &lt;Box style={{ marginTop: 14, padding: 14, background: '#FDF3F2', borderLeft: '4px solid #D9534F' }}&gt;&#13;&#10;            &lt;Text style={{ fontSize: 15, color: '#1A2230', lineHeight: 1.65 }}&gt;&#13;&#10;                隐患：扰动最差样本的 ON/OFF 只有 &lt;span style={{ fontWeight: 'bold', color: '#D9534F' }}&gt;7.3&lt;/span&gt;，低于规格线 10。实际构建应优先选高表达门（如 P3_PhlF，ymax 6.8）。&#13;&#10;            &lt;/Text&gt;&#13;&#10;        &lt;/Box&gt;&#13;&#10;    &lt;/Box&gt;&#13;&#10;&#13;&#10;    &lt;Box style={{ position: 'absolute', left: 40, top: 672, width: 1200, flexDirection: 'row', justifyContent: 'space-between' }}&gt;&#13;&#10;        &lt;Text style={{ fontSize: 14, color: '#8B97A8' }}&gt;《合成生物学》课程设计 · 三输入多数表决基因线路&lt;/Text&gt;&#13;&#10;        &lt;Text style={{ fontSize: 14, color: '#1E4FA8' }}&gt;10 / 13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" name=""/>
          <p:cNvSpPr/>
          <p:nvPr/>
        </p:nvSpPr>
        <p:spPr>
          <a:xfrm rot="0" flipH="0" flipV="0">
            <a:off x="0" y="0"/>
            <a:ext cx="12192000" cy="5715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0" name=""/>
          <p:cNvSpPr/>
          <p:nvPr/>
        </p:nvSpPr>
        <p:spPr>
          <a:xfrm rot="0" flipH="0" flipV="0">
            <a:off x="381000" y="361950"/>
            <a:ext cx="57150" cy="304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571500" y="323850"/>
            <a:ext cx="39624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E3F8C"/>
                </a:solidFill>
                <a:latin typeface="Microsoft YaHei"/>
                <a:ea typeface="Microsoft YaHei"/>
              </a:rPr>
              <a:t>鲁棒性：三个边界，一个隐患</a:t>
            </a:r>
            <a:endParaRPr/>
          </a:p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10848975" y="533400"/>
            <a:ext cx="9620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04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　仿真与验证</a:t>
            </a:r>
            <a:endParaRPr/>
          </a:p>
        </p:txBody>
      </p:sp>
      <p:sp>
        <p:nvSpPr>
          <p:cNvPr id="23" name=""/>
          <p:cNvSpPr/>
          <p:nvPr/>
        </p:nvSpPr>
        <p:spPr>
          <a:xfrm rot="0" flipH="0" flipV="0">
            <a:off x="381000" y="876300"/>
            <a:ext cx="11430000" cy="9525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pic>
        <p:nvPicPr>
          <p:cNvPr id="24" name=""/>
          <p:cNvPicPr>
            <a:picLocks noChangeAspect="1"/>
          </p:cNvPicPr>
          <p:nvPr/>
        </p:nvPicPr>
        <p:blipFill>
          <a:blip r:embed="rId1"/>
          <a:srcRect l="41" t="0" r="41" b="0"/>
          <a:stretch>
            <a:fillRect/>
          </a:stretch>
        </p:blipFill>
        <p:spPr>
          <a:xfrm rot="0" flipH="0" flipV="0">
            <a:off x="381000" y="1047750"/>
            <a:ext cx="6667500" cy="4743450"/>
          </a:xfrm>
          <a:prstGeom prst="rect">
            <a:avLst/>
          </a:prstGeom>
          <a:ln/>
        </p:spPr>
      </p:pic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381000" y="5810250"/>
            <a:ext cx="666750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图</a:t>
            </a: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 xml:space="preserve"> 4</a:t>
            </a: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　四类扰动下的逻辑正确性与误判率</a:t>
            </a:r>
            <a:endParaRPr/>
          </a:p>
        </p:txBody>
      </p:sp>
      <p:sp>
        <p:nvSpPr>
          <p:cNvPr id="26" name=""/>
          <p:cNvSpPr/>
          <p:nvPr/>
        </p:nvSpPr>
        <p:spPr>
          <a:xfrm rot="0" flipH="0" flipV="0">
            <a:off x="7334250" y="1085850"/>
            <a:ext cx="4476750" cy="1038225"/>
          </a:xfrm>
          <a:custGeom>
            <a:pathLst>
              <a:path w="470" h="109">
                <a:moveTo>
                  <a:pt x="0" y="108"/>
                </a:moveTo>
                <a:lnTo>
                  <a:pt x="470" y="108"/>
                </a:lnTo>
                <a:lnTo>
                  <a:pt x="470" y="109"/>
                </a:lnTo>
                <a:lnTo>
                  <a:pt x="0" y="109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7334250" y="1200150"/>
            <a:ext cx="1066800" cy="50482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3000" b="1">
                <a:solidFill>
                  <a:srgbClr val="0E3F8C"/>
                </a:solidFill>
                <a:latin typeface="Microsoft YaHei"/>
                <a:ea typeface="Microsoft YaHei"/>
              </a:rPr>
              <a:t>100%</a:t>
            </a:r>
            <a:endParaRPr/>
          </a:p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8496300" y="1476375"/>
            <a:ext cx="10572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参数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±15%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扰动</a:t>
            </a:r>
            <a:endParaRPr/>
          </a:p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7334250" y="1733550"/>
            <a:ext cx="447675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300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组样本全部保持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8/8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正确；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ON/OFF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中位数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21.3</a:t>
            </a:r>
            <a:endParaRPr/>
          </a:p>
        </p:txBody>
      </p:sp>
      <p:sp>
        <p:nvSpPr>
          <p:cNvPr id="30" name=""/>
          <p:cNvSpPr/>
          <p:nvPr/>
        </p:nvSpPr>
        <p:spPr>
          <a:xfrm rot="0" flipH="0" flipV="0">
            <a:off x="7334250" y="2114550"/>
            <a:ext cx="4476750" cy="1038225"/>
          </a:xfrm>
          <a:custGeom>
            <a:pathLst>
              <a:path w="470" h="109">
                <a:moveTo>
                  <a:pt x="0" y="108"/>
                </a:moveTo>
                <a:lnTo>
                  <a:pt x="470" y="108"/>
                </a:lnTo>
                <a:lnTo>
                  <a:pt x="470" y="109"/>
                </a:lnTo>
                <a:lnTo>
                  <a:pt x="0" y="109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7334250" y="2228850"/>
            <a:ext cx="990600" cy="50482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3000" b="1">
                <a:solidFill>
                  <a:srgbClr val="0E3F8C"/>
                </a:solidFill>
                <a:latin typeface="Microsoft YaHei"/>
                <a:ea typeface="Microsoft YaHei"/>
              </a:rPr>
              <a:t>≥ 0.6</a:t>
            </a:r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8420100" y="2505075"/>
            <a:ext cx="14382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输入工作窗口（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RPU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7334250" y="2762250"/>
            <a:ext cx="447675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低于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0.4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失效；上限扫描至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3.0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仍正常</a:t>
            </a:r>
            <a:endParaRPr/>
          </a:p>
        </p:txBody>
      </p:sp>
      <p:sp>
        <p:nvSpPr>
          <p:cNvPr id="34" name=""/>
          <p:cNvSpPr/>
          <p:nvPr/>
        </p:nvSpPr>
        <p:spPr>
          <a:xfrm rot="0" flipH="0" flipV="0">
            <a:off x="7334250" y="3143250"/>
            <a:ext cx="4476750" cy="1038225"/>
          </a:xfrm>
          <a:custGeom>
            <a:pathLst>
              <a:path w="470" h="109">
                <a:moveTo>
                  <a:pt x="0" y="108"/>
                </a:moveTo>
                <a:lnTo>
                  <a:pt x="470" y="108"/>
                </a:lnTo>
                <a:lnTo>
                  <a:pt x="470" y="109"/>
                </a:lnTo>
                <a:lnTo>
                  <a:pt x="0" y="109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7334250" y="3257550"/>
            <a:ext cx="942975" cy="50482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3000" b="1">
                <a:solidFill>
                  <a:srgbClr val="0E3F8C"/>
                </a:solidFill>
                <a:latin typeface="Microsoft YaHei"/>
                <a:ea typeface="Microsoft YaHei"/>
              </a:rPr>
              <a:t>0.2%</a:t>
            </a:r>
            <a:endParaRPr/>
          </a:p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8372475" y="3533775"/>
            <a:ext cx="1628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误判率（输入噪声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10%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7334250" y="3790950"/>
            <a:ext cx="447675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噪声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20%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时升至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4.4%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，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25%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时约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6%</a:t>
            </a:r>
            <a:endParaRPr/>
          </a:p>
        </p:txBody>
      </p:sp>
      <p:sp>
        <p:nvSpPr>
          <p:cNvPr id="38" name=""/>
          <p:cNvSpPr/>
          <p:nvPr/>
        </p:nvSpPr>
        <p:spPr>
          <a:xfrm rot="0" flipH="0" flipV="0">
            <a:off x="7372350" y="4305300"/>
            <a:ext cx="4476750" cy="838200"/>
          </a:xfrm>
          <a:prstGeom prst="rect">
            <a:avLst/>
          </a:prstGeom>
          <a:solidFill>
            <a:srgbClr val="FDF3F2"/>
          </a:solidFill>
          <a:ln/>
        </p:spPr>
        <p:txBody>
          <a:bodyPr/>
          <a:p/>
        </p:txBody>
      </p:sp>
      <p:sp>
        <p:nvSpPr>
          <p:cNvPr id="39" name=""/>
          <p:cNvSpPr/>
          <p:nvPr/>
        </p:nvSpPr>
        <p:spPr>
          <a:xfrm rot="0" flipH="0" flipV="0">
            <a:off x="7334250" y="4305300"/>
            <a:ext cx="4514850" cy="838200"/>
          </a:xfrm>
          <a:custGeom>
            <a:pathLst>
              <a:path w="474" h="88">
                <a:moveTo>
                  <a:pt x="0" y="0"/>
                </a:moveTo>
                <a:lnTo>
                  <a:pt x="4" y="0"/>
                </a:lnTo>
                <a:lnTo>
                  <a:pt x="4" y="88"/>
                </a:lnTo>
                <a:lnTo>
                  <a:pt x="0" y="88"/>
                </a:lnTo>
                <a:close/>
              </a:path>
            </a:pathLst>
          </a:custGeom>
          <a:solidFill>
            <a:srgbClr val="D9534F"/>
          </a:solidFill>
          <a:ln/>
        </p:spPr>
        <p:txBody>
          <a:bodyPr/>
          <a:p/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7505700" y="4438650"/>
            <a:ext cx="417195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隐患：扰动最差样本的</a:t>
            </a: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 ON/OFF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只有</a:t>
            </a: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 </a:t>
            </a:r>
            <a:r>
              <a:rPr lang="en-US" sz="1125" b="1">
                <a:solidFill>
                  <a:srgbClr val="D9534F"/>
                </a:solidFill>
                <a:latin typeface="Microsoft YaHei"/>
                <a:ea typeface="Microsoft YaHei"/>
              </a:rPr>
              <a:t>7.3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，低于规格线</a:t>
            </a: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 10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。实际构建应优先选高表达门（如</a:t>
            </a: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 P3_PhlF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，</a:t>
            </a: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>ymax 6.8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）。</a:t>
            </a:r>
            <a:endParaRPr/>
          </a:p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381000" y="6400800"/>
            <a:ext cx="3048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《合成生物学》课程设计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三输入多数表决基因线路</a:t>
            </a:r>
            <a:endParaRPr/>
          </a:p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113538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E4FA8"/>
                </a:solidFill>
                <a:latin typeface="Microsoft YaHei"/>
                <a:ea typeface="Microsoft YaHei"/>
              </a:rPr>
              <a:t>10 / 13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43" name="" descr="&lt;Slide style={{ width: 1280, height: 720, background: '#FFFFFF', fontFamily: 'Microsoft YaHei', position: 'relative' }}&gt;&#13;&#10;    &lt;Box style={{ position: 'absolute', left: 0, top: 0, width: 1280, height: 6, background: '#0E3F8C' }} /&gt;&#13;&#10;    &lt;Box style={{ position: 'absolute', left: 40, top: 34, width: 1200, flexDirection: 'row', alignItems: 'flex-end', justifyContent: 'space-between' }}&gt;&#13;&#10;        &lt;Box style={{ flexDirection: 'row', alignItems: 'center', gap: 14 }}&gt;&#13;&#10;            &lt;Box style={{ width: 6, height: 32, background: '#1E4FA8' }} /&gt;&#13;&#10;            &lt;Text style={{ fontSize: 32, fontWeight: 'bold', color: '#0E3F8C' }}&gt;外部校验：和官方工具对一次账&lt;/Text&gt;&#13;&#10;        &lt;/Box&gt;&#13;&#10;        &lt;Text style={{ fontSize: 14, color: '#8B97A8' }}&gt;04　仿真与验证&lt;/Text&gt;&#13;&#10;    &lt;/Box&gt;&#13;&#10;    &lt;Box style={{ position: 'absolute', left: 40, top: 92, width: 1200, height: 1, background: '#D6DCE5' }} /&gt;&#13;&#10;&#13;&#10;    &lt;Box style={{ position: 'absolute', left: 40, top: 106, width: 880 }}&gt;&#13;&#10;        &lt;Image src=&quot;assets/cello_cmp.png&quot; style={{ width: 880, height: 336, objectFit: 'contain' }} /&gt;&#13;&#10;        &lt;Text style={{ fontSize: 13, color: '#8B97A8', textAlign: 'center', marginTop: 2 }}&gt;&#13;&#10;            图 5　本模型与 Cello 官方布线结果的对比&#13;&#10;        &lt;/Text&gt;&#13;&#10;    &lt;/Box&gt;&#13;&#10;&#13;&#10;    &lt;Box style={{ position: 'absolute', left: 950, top: 120, width: 290 }}&gt;&#13;&#10;        &lt;Box style={{ padding: '16px 18px', background: '#0E3F8C', borderRadius: 8 }}&gt;&#13;&#10;            &lt;Text style={{ fontSize: 13, color: '#A9C3E8' }}&gt;归一化相关系数 r&lt;/Text&gt;&#13;&#10;            &lt;Text style={{ fontSize: 46, color: '#FFFFFF', fontWeight: 'bold', lineHeight: 1.15 }}&gt;0.9996&lt;/Text&gt;&#13;&#10;            &lt;Text style={{ fontSize: 13, color: '#D5E3F6' }}&gt;8 个状态的曲线几乎完全重合&lt;/Text&gt;&#13;&#10;        &lt;/Box&gt;&#13;&#10;        &lt;Text style={{ fontSize: 14, color: '#4A5568', lineHeight: 1.7, marginTop: 14 }}&gt;&#13;&#10;            绝对数值相差约 4 倍，原因是两者使用的门库版本不同（RPU 是相对单位）。&lt;span style={{ fontWeight: 'bold', color: '#0E3F8C' }}&gt;归一化后比较的是逻辑与能级结构，这才是可迁移的部分。&lt;/span&gt;&#13;&#10;        &lt;/Text&gt;&#13;&#10;    &lt;/Box&gt;&#13;&#10;&#13;&#10;    &lt;Box style={{ position: 'absolute', left: 40, top: 500, width: 1200, flexDirection: 'row', gap: 16 }}&gt;&#13;&#10;        {[&#13;&#10;            { t: '开关方向一致', d: '每个门在 8 种输入下的高/低方向与官方完全一致。' },&#13;&#10;            { t: '能级顺序一致', d: '[0,1,1] 最低、[1,0,1]≈[1,1,0]、[1,1,1] 最高，三个 ON 态的排序全部对上。' },&#13;&#10;            { t: '为什么这很重要', d: '模型不是&quot;另起一套&quot;，而是仅凭同一套参数复现了官方工具的行为。' },&#13;&#10;        ].map((it, i) =&gt; (&#13;&#10;            &lt;Box style={{ flex: 1, background: '#F7F9FC', border: '1px solid #D6DCE5', borderRadius: 8, padding: 16 }}&gt;&#13;&#10;                &lt;Text style={{ fontSize: 12, color: '#8B97A8', letterSpacing: 1 }}&gt;0{i + 1}&lt;/Text&gt;&#13;&#10;                &lt;Text style={{ fontSize: 19, color: '#0E3F8C', fontWeight: 'bold', marginTop: 2 }}&gt;{it.t}&lt;/Text&gt;&#13;&#10;                &lt;Text style={{ fontSize: 15, color: '#4A5568', lineHeight: 1.65, marginTop: 6 }}&gt;{it.d}&lt;/Text&gt;&#13;&#10;            &lt;/Box&gt;&#13;&#10;        ))}&#13;&#10;    &lt;/Box&gt;&#13;&#10;&#13;&#10;    &lt;Box style={{ position: 'absolute', left: 40, top: 672, width: 1200, flexDirection: 'row', justifyContent: 'space-between' }}&gt;&#13;&#10;        &lt;Text style={{ fontSize: 14, color: '#8B97A8' }}&gt;《合成生物学》课程设计 · 三输入多数表决基因线路&lt;/Text&gt;&#13;&#10;        &lt;Text style={{ fontSize: 14, color: '#1E4FA8' }}&gt;11 / 13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5" name=""/>
          <p:cNvSpPr/>
          <p:nvPr/>
        </p:nvSpPr>
        <p:spPr>
          <a:xfrm rot="0" flipH="0" flipV="0">
            <a:off x="0" y="0"/>
            <a:ext cx="12192000" cy="5715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46" name=""/>
          <p:cNvSpPr/>
          <p:nvPr/>
        </p:nvSpPr>
        <p:spPr>
          <a:xfrm rot="0" flipH="0" flipV="0">
            <a:off x="381000" y="361950"/>
            <a:ext cx="57150" cy="304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571500" y="323850"/>
            <a:ext cx="42672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E3F8C"/>
                </a:solidFill>
                <a:latin typeface="Microsoft YaHei"/>
                <a:ea typeface="Microsoft YaHei"/>
              </a:rPr>
              <a:t>外部校验：和官方工具对一次账</a:t>
            </a:r>
            <a:endParaRPr/>
          </a:p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10848975" y="533400"/>
            <a:ext cx="9620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04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　仿真与验证</a:t>
            </a:r>
            <a:endParaRPr/>
          </a:p>
        </p:txBody>
      </p:sp>
      <p:sp>
        <p:nvSpPr>
          <p:cNvPr id="49" name=""/>
          <p:cNvSpPr/>
          <p:nvPr/>
        </p:nvSpPr>
        <p:spPr>
          <a:xfrm rot="0" flipH="0" flipV="0">
            <a:off x="381000" y="876300"/>
            <a:ext cx="11430000" cy="9525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pic>
        <p:nvPicPr>
          <p:cNvPr id="50" name=""/>
          <p:cNvPicPr>
            <a:picLocks noChangeAspect="1"/>
          </p:cNvPicPr>
          <p:nvPr/>
        </p:nvPicPr>
        <p:blipFill>
          <a:blip r:embed="rId1"/>
          <a:srcRect l="49" t="0" r="49" b="0"/>
          <a:stretch>
            <a:fillRect/>
          </a:stretch>
        </p:blipFill>
        <p:spPr>
          <a:xfrm rot="0" flipH="0" flipV="0">
            <a:off x="381000" y="1009650"/>
            <a:ext cx="8382000" cy="3200400"/>
          </a:xfrm>
          <a:prstGeom prst="rect">
            <a:avLst/>
          </a:prstGeom>
          <a:ln/>
        </p:spPr>
      </p:pic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381000" y="4229100"/>
            <a:ext cx="838200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图</a:t>
            </a: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 xml:space="preserve"> 5</a:t>
            </a: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　本模型与</a:t>
            </a: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 xml:space="preserve"> Cello </a:t>
            </a: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官方布线结果的对比</a:t>
            </a:r>
            <a:endParaRPr/>
          </a:p>
        </p:txBody>
      </p:sp>
      <p:sp>
        <p:nvSpPr>
          <p:cNvPr id="52" name=""/>
          <p:cNvSpPr/>
          <p:nvPr/>
        </p:nvSpPr>
        <p:spPr>
          <a:xfrm rot="0" flipH="0" flipV="0">
            <a:off x="9048750" y="1143000"/>
            <a:ext cx="2762250" cy="1219200"/>
          </a:xfrm>
          <a:prstGeom prst="roundRect">
            <a:avLst>
              <a:gd name="adj" fmla="val 6250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9220200" y="1295400"/>
            <a:ext cx="24193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A9C3E8"/>
                </a:solidFill>
                <a:latin typeface="Microsoft YaHei"/>
                <a:ea typeface="Microsoft YaHei"/>
              </a:rPr>
              <a:t>归一化相关系数</a:t>
            </a:r>
            <a:r>
              <a:rPr lang="en-US" sz="975">
                <a:solidFill>
                  <a:srgbClr val="A9C3E8"/>
                </a:solidFill>
                <a:latin typeface="Microsoft YaHei"/>
                <a:ea typeface="Microsoft YaHei"/>
              </a:rPr>
              <a:t xml:space="preserve"> r</a:t>
            </a:r>
            <a:endParaRPr/>
          </a:p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9220200" y="1447800"/>
            <a:ext cx="2419350" cy="60960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en-US" sz="3450" b="1">
                <a:solidFill>
                  <a:srgbClr val="FFFFFF"/>
                </a:solidFill>
                <a:latin typeface="Microsoft YaHei"/>
                <a:ea typeface="Microsoft YaHei"/>
              </a:rPr>
              <a:t>0.9996</a:t>
            </a:r>
            <a:endParaRPr/>
          </a:p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9220200" y="2057400"/>
            <a:ext cx="24193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D5E3F6"/>
                </a:solidFill>
                <a:latin typeface="Microsoft YaHei"/>
                <a:ea typeface="Microsoft YaHei"/>
              </a:rPr>
              <a:t xml:space="preserve">8 </a:t>
            </a:r>
            <a:r>
              <a:rPr lang="zh-CN" sz="975">
                <a:solidFill>
                  <a:srgbClr val="D5E3F6"/>
                </a:solidFill>
                <a:latin typeface="Microsoft YaHei"/>
                <a:ea typeface="Microsoft YaHei"/>
              </a:rPr>
              <a:t>个状态的曲线几乎完全重合</a:t>
            </a:r>
            <a:endParaRPr/>
          </a:p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9048750" y="2495550"/>
            <a:ext cx="2762250" cy="819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绝对数值相差约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 xml:space="preserve"> 4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倍，原因是两者使用的门库版本不同（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 xml:space="preserve">RPU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是相对单位）。</a:t>
            </a:r>
            <a:r>
              <a:rPr lang="zh-CN" sz="1050" b="1">
                <a:solidFill>
                  <a:srgbClr val="0E3F8C"/>
                </a:solidFill>
                <a:latin typeface="Microsoft YaHei"/>
                <a:ea typeface="Microsoft YaHei"/>
              </a:rPr>
              <a:t>归一化后比较的是逻辑与能级结构，这才是可迁移的部分。</a:t>
            </a:r>
            <a:endParaRPr/>
          </a:p>
        </p:txBody>
      </p:sp>
      <p:sp>
        <p:nvSpPr>
          <p:cNvPr id="57" name=""/>
          <p:cNvSpPr/>
          <p:nvPr/>
        </p:nvSpPr>
        <p:spPr>
          <a:xfrm rot="0" flipH="0" flipV="0">
            <a:off x="381000" y="4762500"/>
            <a:ext cx="3705225" cy="1314450"/>
          </a:xfrm>
          <a:prstGeom prst="roundRect">
            <a:avLst>
              <a:gd name="adj" fmla="val 5797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533400" y="4914900"/>
            <a:ext cx="34004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75">
                <a:solidFill>
                  <a:srgbClr val="8B97A8"/>
                </a:solidFill>
                <a:latin typeface="Microsoft YaHei"/>
                <a:ea typeface="Microsoft YaHei"/>
              </a:rPr>
              <a:t>0</a:t>
            </a:r>
            <a:r>
              <a:rPr lang="en-US" sz="900" spc="75">
                <a:solidFill>
                  <a:srgbClr val="8B97A8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533400" y="5076825"/>
            <a:ext cx="34004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E3F8C"/>
                </a:solidFill>
                <a:latin typeface="Microsoft YaHei"/>
                <a:ea typeface="Microsoft YaHei"/>
              </a:rPr>
              <a:t>开关方向一致</a:t>
            </a:r>
            <a:endParaRPr/>
          </a:p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533400" y="5353050"/>
            <a:ext cx="3400425" cy="28575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每个门在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8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种输入下的高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/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低方向与官方完全一致。</a:t>
            </a:r>
            <a:endParaRPr/>
          </a:p>
        </p:txBody>
      </p:sp>
      <p:sp>
        <p:nvSpPr>
          <p:cNvPr id="61" name=""/>
          <p:cNvSpPr/>
          <p:nvPr/>
        </p:nvSpPr>
        <p:spPr>
          <a:xfrm rot="0" flipH="0" flipV="0">
            <a:off x="4238625" y="4762500"/>
            <a:ext cx="3714750" cy="1314450"/>
          </a:xfrm>
          <a:prstGeom prst="roundRect">
            <a:avLst>
              <a:gd name="adj" fmla="val 5797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4391025" y="4914900"/>
            <a:ext cx="34099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75">
                <a:solidFill>
                  <a:srgbClr val="8B97A8"/>
                </a:solidFill>
                <a:latin typeface="Microsoft YaHei"/>
                <a:ea typeface="Microsoft YaHei"/>
              </a:rPr>
              <a:t>0</a:t>
            </a:r>
            <a:r>
              <a:rPr lang="en-US" sz="900" spc="75">
                <a:solidFill>
                  <a:srgbClr val="8B97A8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4391025" y="5076825"/>
            <a:ext cx="34099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E3F8C"/>
                </a:solidFill>
                <a:latin typeface="Microsoft YaHei"/>
                <a:ea typeface="Microsoft YaHei"/>
              </a:rPr>
              <a:t>能级顺序一致</a:t>
            </a:r>
            <a:endParaRPr/>
          </a:p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4391025" y="5353050"/>
            <a:ext cx="340995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[0,1,1]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最低、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[1,0,1]≈[1,1,0]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、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[1,1,1]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最高，三个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ON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态的排序全部对上。</a:t>
            </a:r>
            <a:endParaRPr/>
          </a:p>
        </p:txBody>
      </p:sp>
      <p:sp>
        <p:nvSpPr>
          <p:cNvPr id="65" name=""/>
          <p:cNvSpPr/>
          <p:nvPr/>
        </p:nvSpPr>
        <p:spPr>
          <a:xfrm rot="0" flipH="0" flipV="0">
            <a:off x="8105775" y="4762500"/>
            <a:ext cx="3705225" cy="1314450"/>
          </a:xfrm>
          <a:prstGeom prst="roundRect">
            <a:avLst>
              <a:gd name="adj" fmla="val 5797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8258175" y="4914900"/>
            <a:ext cx="34004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75">
                <a:solidFill>
                  <a:srgbClr val="8B97A8"/>
                </a:solidFill>
                <a:latin typeface="Microsoft YaHei"/>
                <a:ea typeface="Microsoft YaHei"/>
              </a:rPr>
              <a:t>0</a:t>
            </a:r>
            <a:r>
              <a:rPr lang="en-US" sz="900" spc="75">
                <a:solidFill>
                  <a:srgbClr val="8B97A8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8258175" y="5076825"/>
            <a:ext cx="34004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E3F8C"/>
                </a:solidFill>
                <a:latin typeface="Microsoft YaHei"/>
                <a:ea typeface="Microsoft YaHei"/>
              </a:rPr>
              <a:t>为什么这很重要</a:t>
            </a:r>
            <a:endParaRPr/>
          </a:p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8258175" y="5353050"/>
            <a:ext cx="3400425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模型不是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另起一套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，而是仅凭同一套参数复现了官方工具的行为。</a:t>
            </a:r>
            <a:endParaRPr/>
          </a:p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381000" y="6400800"/>
            <a:ext cx="3048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《合成生物学》课程设计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三输入多数表决基因线路</a:t>
            </a:r>
            <a:endParaRPr/>
          </a:p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113538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E4FA8"/>
                </a:solidFill>
                <a:latin typeface="Microsoft YaHei"/>
                <a:ea typeface="Microsoft YaHei"/>
              </a:rPr>
              <a:t>11 / 13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71" name="" descr="&lt;Slide style={{ width: 1280, height: 720, background: '#FFFFFF', fontFamily: 'Microsoft YaHei', position: 'relative' }}&gt;&#13;&#10;    &lt;Box style={{ position: 'absolute', left: 0, top: 0, width: 1280, height: 6, background: '#0E3F8C' }} /&gt;&#13;&#10;    &lt;Box style={{ position: 'absolute', left: 40, top: 34, width: 1200, flexDirection: 'row', alignItems: 'flex-end', justifyContent: 'space-between' }}&gt;&#13;&#10;        &lt;Box style={{ flexDirection: 'row', alignItems: 'center', gap: 14 }}&gt;&#13;&#10;            &lt;Box style={{ width: 6, height: 32, background: '#1E4FA8' }} /&gt;&#13;&#10;            &lt;Text style={{ fontSize: 32, fontWeight: 'bold', color: '#0E3F8C' }}&gt;湿实验可行性：这件事能不能真做出来&lt;/Text&gt;&#13;&#10;        &lt;/Box&gt;&#13;&#10;        &lt;Text style={{ fontSize: 14, color: '#8B97A8' }}&gt;05　落地与结论&lt;/Text&gt;&#13;&#10;    &lt;/Box&gt;&#13;&#10;    &lt;Box style={{ position: 'absolute', left: 40, top: 92, width: 1200, height: 1, background: '#D6DCE5' }} /&gt;&#13;&#10;&#13;&#10;    &lt;Box style={{ position: 'absolute', left: 40, top: 118, width: 1200, flexDirection: 'row', gap: 16 }}&gt;&#13;&#10;        {[&#13;&#10;            { n: '01', t: '菌株与培养', d: '克隆 DH5α，表达 BL21(DE3) 或 MG1655。均为 BSL-1 非致病。LB 培养基，37 ℃、220 rpm。', k: 'BSL-1' },&#13;&#10;            { n: '02', t: '元件与组装', d: '6 个阻遏蛋白及同源启动子属 TetR 家族库，Registry / Addgene 可得。Golden Gate（BsaI）一锅法组装，菌落 PCR + 测序验证。', k: '2–3 质粒' },&#13;&#10;            { n: '03', t: '表征方案', d: '8 种输入 × 3 重复；按工作窗口标定诱导剂浓度；诱导后取 2/4/6 h；酶标仪测 YFP，OD600 归一化。', k: '≥ 4 h' },&#13;&#10;            { n: '04', t: '风险与预案', d: '门间串扰 → 选已验证正交家族；泄漏偏高 → 加终止子；生长负担 → 降拷贝数；组装失败 → 分步组装。', k: '4 项' },&#13;&#10;        ].map((it) =&gt; (&#13;&#10;            &lt;Box style={{ width: 288, height: 358, background: '#F7F9FC', border: '1px solid #D6DCE5', borderRadius: 8, padding: 18 }}&gt;&#13;&#10;                &lt;Text style={{ fontSize: 13, color: '#8B97A8', letterSpacing: 1 }}&gt;{it.n}&lt;/Text&gt;&#13;&#10;                &lt;Text style={{ fontSize: 21, color: '#0E3F8C', fontWeight: 'bold', marginTop: 4, lineHeight: 1.35 }}&gt;{it.t}&lt;/Text&gt;&#13;&#10;                &lt;Box style={{ width: 32, height: 3, background: '#3D7BD9', marginTop: 10 }} /&gt;&#13;&#10;                &lt;Text style={{ fontSize: 15, color: '#4A5568', lineHeight: 1.75, marginTop: 10 }}&gt;{it.d}&lt;/Text&gt;&#13;&#10;                &lt;Box style={{ marginTop: 'auto', alignSelf: 'flex-start', padding: '4px 10px', background: '#E8EFF8', borderRadius: 4 }}&gt;&#13;&#10;                    &lt;Text style={{ fontSize: 13, color: '#1E4FA8', fontWeight: 'bold' }}&gt;{it.k}&lt;/Text&gt;&#13;&#10;                &lt;/Box&gt;&#13;&#10;            &lt;/Box&gt;&#13;&#10;        ))}&#13;&#10;    &lt;/Box&gt;&#13;&#10;&#13;&#10;    &lt;Box style={{ position: 'absolute', left: 40, top: 494, width: 1200, background: '#FFFFFF', border: '1px solid #D6DCE5', borderRadius: 8, padding: 18 }}&gt;&#13;&#10;        &lt;Box style={{ flexDirection: 'row', gap: 18 }}&gt;&#13;&#10;            &lt;Box style={{ width: 130 }}&gt;&#13;&#10;                &lt;Text style={{ fontSize: 13, color: '#8B97A8', letterSpacing: 1 }}&gt;JUDGE&lt;/Text&gt;&#13;&#10;                &lt;Text style={{ fontSize: 18, color: '#0E3F8C', fontWeight: 'bold', marginTop: 2 }}&gt;判读标准&lt;/Text&gt;&#13;&#10;            &lt;/Box&gt;&#13;&#10;            &lt;Box style={{ flex: 1 }}&gt;&#13;&#10;                &lt;Text style={{ fontSize: 17, color: '#1A2230', lineHeight: 1.7 }}&gt;&#13;&#10;                    ON/OFF ≥ 10 且 8 种组合全部正确，视为设计成功；同时设置空载体、单门、无诱导、阳性四组对照。&#13;&#10;                &lt;/Text&gt;&#13;&#10;                &lt;Text style={{ fontSize: 15, color: '#8B97A8', lineHeight: 1.65, marginTop: 6 }}&gt;&#13;&#10;                    说明：本设计未做湿实验，以上为可行性论证。元件来源、组装方法、取样时间均由本设计的计算与门库信息推出，不含主观估计。&#13;&#10;                &lt;/Text&gt;&#13;&#10;            &lt;/Box&gt;&#13;&#10;        &lt;/Box&gt;&#13;&#10;    &lt;/Box&gt;&#13;&#10;&#13;&#10;    &lt;Box style={{ position: 'absolute', left: 40, top: 672, width: 1200, flexDirection: 'row', justifyContent: 'space-between' }}&gt;&#13;&#10;        &lt;Text style={{ fontSize: 14, color: '#8B97A8' }}&gt;《合成生物学》课程设计 · 三输入多数表决基因线路&lt;/Text&gt;&#13;&#10;        &lt;Text style={{ fontSize: 14, color: '#1E4FA8' }}&gt;12 / 13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3" name=""/>
          <p:cNvSpPr/>
          <p:nvPr/>
        </p:nvSpPr>
        <p:spPr>
          <a:xfrm rot="0" flipH="0" flipV="0">
            <a:off x="0" y="0"/>
            <a:ext cx="12192000" cy="5715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74" name=""/>
          <p:cNvSpPr/>
          <p:nvPr/>
        </p:nvSpPr>
        <p:spPr>
          <a:xfrm rot="0" flipH="0" flipV="0">
            <a:off x="381000" y="361950"/>
            <a:ext cx="57150" cy="304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571500" y="323850"/>
            <a:ext cx="51816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E3F8C"/>
                </a:solidFill>
                <a:latin typeface="Microsoft YaHei"/>
                <a:ea typeface="Microsoft YaHei"/>
              </a:rPr>
              <a:t>湿实验可行性：这件事能不能真做出来</a:t>
            </a:r>
            <a:endParaRPr/>
          </a:p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10848975" y="533400"/>
            <a:ext cx="9620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05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　落地与结论</a:t>
            </a:r>
            <a:endParaRPr/>
          </a:p>
        </p:txBody>
      </p:sp>
      <p:sp>
        <p:nvSpPr>
          <p:cNvPr id="77" name=""/>
          <p:cNvSpPr/>
          <p:nvPr/>
        </p:nvSpPr>
        <p:spPr>
          <a:xfrm rot="0" flipH="0" flipV="0">
            <a:off x="381000" y="876300"/>
            <a:ext cx="11430000" cy="9525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78" name=""/>
          <p:cNvSpPr/>
          <p:nvPr/>
        </p:nvSpPr>
        <p:spPr>
          <a:xfrm rot="0" flipH="0" flipV="0">
            <a:off x="381000" y="1123950"/>
            <a:ext cx="2743200" cy="3409950"/>
          </a:xfrm>
          <a:prstGeom prst="roundRect">
            <a:avLst>
              <a:gd name="adj" fmla="val 2778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552450" y="1295400"/>
            <a:ext cx="2400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75">
                <a:solidFill>
                  <a:srgbClr val="8B97A8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552450" y="1485900"/>
            <a:ext cx="2400300" cy="3333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575" b="1">
                <a:solidFill>
                  <a:srgbClr val="0E3F8C"/>
                </a:solidFill>
                <a:latin typeface="Microsoft YaHei"/>
                <a:ea typeface="Microsoft YaHei"/>
              </a:rPr>
              <a:t>菌株与培养</a:t>
            </a:r>
            <a:endParaRPr/>
          </a:p>
        </p:txBody>
      </p:sp>
      <p:sp>
        <p:nvSpPr>
          <p:cNvPr id="81" name=""/>
          <p:cNvSpPr/>
          <p:nvPr/>
        </p:nvSpPr>
        <p:spPr>
          <a:xfrm rot="0" flipH="0" flipV="0">
            <a:off x="552450" y="1914525"/>
            <a:ext cx="304800" cy="28575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552450" y="2038350"/>
            <a:ext cx="2400300" cy="9048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克隆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DH5α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，表达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BL21(DE3)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或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MG1655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。均为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BSL-1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非致病。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LB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培养基，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37 ℃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、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220 rpm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83" name=""/>
          <p:cNvSpPr/>
          <p:nvPr/>
        </p:nvSpPr>
        <p:spPr>
          <a:xfrm rot="0" flipH="0" flipV="0">
            <a:off x="552450" y="4133850"/>
            <a:ext cx="552450" cy="228600"/>
          </a:xfrm>
          <a:prstGeom prst="roundRect">
            <a:avLst>
              <a:gd name="adj" fmla="val 16667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647700" y="4171950"/>
            <a:ext cx="3619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1E4FA8"/>
                </a:solidFill>
                <a:latin typeface="Microsoft YaHei"/>
                <a:ea typeface="Microsoft YaHei"/>
              </a:rPr>
              <a:t>BSL-1</a:t>
            </a:r>
            <a:endParaRPr/>
          </a:p>
        </p:txBody>
      </p:sp>
      <p:sp>
        <p:nvSpPr>
          <p:cNvPr id="85" name=""/>
          <p:cNvSpPr/>
          <p:nvPr/>
        </p:nvSpPr>
        <p:spPr>
          <a:xfrm rot="0" flipH="0" flipV="0">
            <a:off x="3276600" y="1123950"/>
            <a:ext cx="2743200" cy="3409950"/>
          </a:xfrm>
          <a:prstGeom prst="roundRect">
            <a:avLst>
              <a:gd name="adj" fmla="val 2778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3448050" y="1295400"/>
            <a:ext cx="2400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75">
                <a:solidFill>
                  <a:srgbClr val="8B97A8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3448050" y="1485900"/>
            <a:ext cx="2400300" cy="3333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575" b="1">
                <a:solidFill>
                  <a:srgbClr val="0E3F8C"/>
                </a:solidFill>
                <a:latin typeface="Microsoft YaHei"/>
                <a:ea typeface="Microsoft YaHei"/>
              </a:rPr>
              <a:t>元件与组装</a:t>
            </a:r>
            <a:endParaRPr/>
          </a:p>
        </p:txBody>
      </p:sp>
      <p:sp>
        <p:nvSpPr>
          <p:cNvPr id="88" name=""/>
          <p:cNvSpPr/>
          <p:nvPr/>
        </p:nvSpPr>
        <p:spPr>
          <a:xfrm rot="0" flipH="0" flipV="0">
            <a:off x="3448050" y="1914525"/>
            <a:ext cx="304800" cy="28575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3448050" y="2038350"/>
            <a:ext cx="2400300" cy="1200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6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个阻遏蛋白及同源启动子属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TetR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家族库，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Registry / Addgene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可得。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Golden Gate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（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BsaI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）一锅法组装，菌落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PCR +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测序验证。</a:t>
            </a:r>
            <a:endParaRPr/>
          </a:p>
        </p:txBody>
      </p:sp>
      <p:sp>
        <p:nvSpPr>
          <p:cNvPr id="90" name=""/>
          <p:cNvSpPr/>
          <p:nvPr/>
        </p:nvSpPr>
        <p:spPr>
          <a:xfrm rot="0" flipH="0" flipV="0">
            <a:off x="3448050" y="4133850"/>
            <a:ext cx="695325" cy="228600"/>
          </a:xfrm>
          <a:prstGeom prst="roundRect">
            <a:avLst>
              <a:gd name="adj" fmla="val 16667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3543300" y="4171950"/>
            <a:ext cx="504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1E4FA8"/>
                </a:solidFill>
                <a:latin typeface="Microsoft YaHei"/>
                <a:ea typeface="Microsoft YaHei"/>
              </a:rPr>
              <a:t xml:space="preserve">2–3 </a:t>
            </a:r>
            <a:r>
              <a:rPr lang="zh-CN" sz="975" b="1">
                <a:solidFill>
                  <a:srgbClr val="1E4FA8"/>
                </a:solidFill>
                <a:latin typeface="Microsoft YaHei"/>
                <a:ea typeface="Microsoft YaHei"/>
              </a:rPr>
              <a:t>质粒</a:t>
            </a:r>
            <a:endParaRPr/>
          </a:p>
        </p:txBody>
      </p:sp>
      <p:sp>
        <p:nvSpPr>
          <p:cNvPr id="92" name=""/>
          <p:cNvSpPr/>
          <p:nvPr/>
        </p:nvSpPr>
        <p:spPr>
          <a:xfrm rot="0" flipH="0" flipV="0">
            <a:off x="6172200" y="1123950"/>
            <a:ext cx="2743200" cy="3409950"/>
          </a:xfrm>
          <a:prstGeom prst="roundRect">
            <a:avLst>
              <a:gd name="adj" fmla="val 2778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6343650" y="1295400"/>
            <a:ext cx="2400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75">
                <a:solidFill>
                  <a:srgbClr val="8B97A8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6343650" y="1485900"/>
            <a:ext cx="2400300" cy="3333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575" b="1">
                <a:solidFill>
                  <a:srgbClr val="0E3F8C"/>
                </a:solidFill>
                <a:latin typeface="Microsoft YaHei"/>
                <a:ea typeface="Microsoft YaHei"/>
              </a:rPr>
              <a:t>表征方案</a:t>
            </a:r>
            <a:endParaRPr/>
          </a:p>
        </p:txBody>
      </p:sp>
      <p:sp>
        <p:nvSpPr>
          <p:cNvPr id="95" name=""/>
          <p:cNvSpPr/>
          <p:nvPr/>
        </p:nvSpPr>
        <p:spPr>
          <a:xfrm rot="0" flipH="0" flipV="0">
            <a:off x="6343650" y="1914525"/>
            <a:ext cx="304800" cy="28575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6343650" y="2038350"/>
            <a:ext cx="2400300" cy="9048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8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种输入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× 3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重复；按工作窗口标定诱导剂浓度；诱导后取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2/4/6 h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；酶标仪测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YFP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，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OD600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归一化。</a:t>
            </a:r>
            <a:endParaRPr/>
          </a:p>
        </p:txBody>
      </p:sp>
      <p:sp>
        <p:nvSpPr>
          <p:cNvPr id="97" name=""/>
          <p:cNvSpPr/>
          <p:nvPr/>
        </p:nvSpPr>
        <p:spPr>
          <a:xfrm rot="0" flipH="0" flipV="0">
            <a:off x="6343650" y="4133850"/>
            <a:ext cx="523875" cy="228600"/>
          </a:xfrm>
          <a:prstGeom prst="roundRect">
            <a:avLst>
              <a:gd name="adj" fmla="val 16667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6438900" y="4171950"/>
            <a:ext cx="3333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1E4FA8"/>
                </a:solidFill>
                <a:latin typeface="Microsoft YaHei"/>
                <a:ea typeface="Microsoft YaHei"/>
              </a:rPr>
              <a:t>≥ 4 h</a:t>
            </a:r>
            <a:endParaRPr/>
          </a:p>
        </p:txBody>
      </p:sp>
      <p:sp>
        <p:nvSpPr>
          <p:cNvPr id="99" name=""/>
          <p:cNvSpPr/>
          <p:nvPr/>
        </p:nvSpPr>
        <p:spPr>
          <a:xfrm rot="0" flipH="0" flipV="0">
            <a:off x="9067800" y="1123950"/>
            <a:ext cx="2743200" cy="3409950"/>
          </a:xfrm>
          <a:prstGeom prst="roundRect">
            <a:avLst>
              <a:gd name="adj" fmla="val 2778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9239250" y="1295400"/>
            <a:ext cx="2400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75">
                <a:solidFill>
                  <a:srgbClr val="8B97A8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9239250" y="1485900"/>
            <a:ext cx="2400300" cy="3333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575" b="1">
                <a:solidFill>
                  <a:srgbClr val="0E3F8C"/>
                </a:solidFill>
                <a:latin typeface="Microsoft YaHei"/>
                <a:ea typeface="Microsoft YaHei"/>
              </a:rPr>
              <a:t>风险与预案</a:t>
            </a:r>
            <a:endParaRPr/>
          </a:p>
        </p:txBody>
      </p:sp>
      <p:sp>
        <p:nvSpPr>
          <p:cNvPr id="102" name=""/>
          <p:cNvSpPr/>
          <p:nvPr/>
        </p:nvSpPr>
        <p:spPr>
          <a:xfrm rot="0" flipH="0" flipV="0">
            <a:off x="9239250" y="1914525"/>
            <a:ext cx="304800" cy="28575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9239250" y="2038350"/>
            <a:ext cx="2400300" cy="9048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门间串扰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选已验证正交家族；泄漏偏高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加终止子；生长负担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降拷贝数；组装失败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分步组装。</a:t>
            </a:r>
            <a:endParaRPr/>
          </a:p>
        </p:txBody>
      </p:sp>
      <p:sp>
        <p:nvSpPr>
          <p:cNvPr id="104" name=""/>
          <p:cNvSpPr/>
          <p:nvPr/>
        </p:nvSpPr>
        <p:spPr>
          <a:xfrm rot="0" flipH="0" flipV="0">
            <a:off x="9239250" y="4133850"/>
            <a:ext cx="428625" cy="228600"/>
          </a:xfrm>
          <a:prstGeom prst="roundRect">
            <a:avLst>
              <a:gd name="adj" fmla="val 16667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9334500" y="4171950"/>
            <a:ext cx="2381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1E4FA8"/>
                </a:solidFill>
                <a:latin typeface="Microsoft YaHei"/>
                <a:ea typeface="Microsoft YaHei"/>
              </a:rPr>
              <a:t xml:space="preserve">4 </a:t>
            </a:r>
            <a:r>
              <a:rPr lang="zh-CN" sz="975" b="1">
                <a:solidFill>
                  <a:srgbClr val="1E4FA8"/>
                </a:solidFill>
                <a:latin typeface="Microsoft YaHei"/>
                <a:ea typeface="Microsoft YaHei"/>
              </a:rPr>
              <a:t>项</a:t>
            </a:r>
            <a:endParaRPr/>
          </a:p>
        </p:txBody>
      </p:sp>
      <p:sp>
        <p:nvSpPr>
          <p:cNvPr id="106" name=""/>
          <p:cNvSpPr/>
          <p:nvPr/>
        </p:nvSpPr>
        <p:spPr>
          <a:xfrm rot="0" flipH="0" flipV="0">
            <a:off x="381000" y="4705350"/>
            <a:ext cx="11430000" cy="1019175"/>
          </a:xfrm>
          <a:prstGeom prst="roundRect">
            <a:avLst>
              <a:gd name="adj" fmla="val 7477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552450" y="4876800"/>
            <a:ext cx="1238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75">
                <a:solidFill>
                  <a:srgbClr val="8B97A8"/>
                </a:solidFill>
                <a:latin typeface="Microsoft YaHei"/>
                <a:ea typeface="Microsoft YaHei"/>
              </a:rPr>
              <a:t>JUDGE</a:t>
            </a:r>
            <a:endParaRPr/>
          </a:p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552450" y="5048250"/>
            <a:ext cx="1238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E3F8C"/>
                </a:solidFill>
                <a:latin typeface="Microsoft YaHei"/>
                <a:ea typeface="Microsoft YaHei"/>
              </a:rPr>
              <a:t>判读标准</a:t>
            </a:r>
            <a:endParaRPr/>
          </a:p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1962150" y="4876800"/>
            <a:ext cx="9677400" cy="3333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 xml:space="preserve">ON/OFF ≥ 10 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且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 xml:space="preserve"> 8 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种组合全部正确，视为设计成功；同时设置空载体、单门、无诱导、阳性四组对照。</a:t>
            </a:r>
            <a:endParaRPr/>
          </a:p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1962150" y="5267325"/>
            <a:ext cx="9677400" cy="28575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说明：本设计未做湿实验，以上为可行性论证。元件来源、组装方法、取样时间均由本设计的计算与门库信息推出，不含主观估计。</a:t>
            </a:r>
            <a:endParaRPr/>
          </a:p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381000" y="6400800"/>
            <a:ext cx="3048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《合成生物学》课程设计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三输入多数表决基因线路</a:t>
            </a:r>
            <a:endParaRPr/>
          </a:p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113538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E4FA8"/>
                </a:solidFill>
                <a:latin typeface="Microsoft YaHei"/>
                <a:ea typeface="Microsoft YaHei"/>
              </a:rPr>
              <a:t>12 / 13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13" name="" descr="&lt;Slide style={{ width: 1280, height: 720, background: '#FFFFFF', fontFamily: 'Microsoft YaHei', position: 'relative' }}&gt;&#10;    &lt;Box style={{ position: 'absolute', left: 0, top: 0, width: 1280, height: 6, background: '#0E3F8C' }} /&gt;&#10;    &lt;Box style={{ position: 'absolute', left: 40, top: 34, width: 1200, flexDirection: 'row', alignItems: 'flex-end', justifyContent: 'space-between' }}&gt;&#10;        &lt;Box style={{ flexDirection: 'row', alignItems: 'center', gap: 14 }}&gt;&#10;            &lt;Box style={{ width: 6, height: 32, background: '#1E4FA8' }} /&gt;&#10;            &lt;Text style={{ fontSize: 32, fontWeight: 'bold', color: '#0E3F8C' }}&gt;结论与局限&lt;/Text&gt;&#10;        &lt;/Box&gt;&#10;        &lt;Text style={{ fontSize: 14, color: '#8B97A8' }}&gt;05　落地与结论&lt;/Text&gt;&#10;    &lt;/Box&gt;&#10;    &lt;Box style={{ position: 'absolute', left: 40, top: 92, width: 1200, height: 1, background: '#D6DCE5' }} /&gt;&#10;&#10;    &lt;Box style={{ position: 'absolute', left: 40, top: 118, width: 600 }}&gt;&#10;        &lt;Text style={{ fontSize: 14, color: '#8B97A8', letterSpacing: 1 }}&gt;CONCLUSIONS&lt;/Text&gt;&#10;        &lt;Text style={{ fontSize: 24, color: '#0E3F8C', fontWeight: 'bold', marginTop: 2 }}&gt;三条结论&lt;/Text&gt;&#10;&#10;        {[&#10;            { n: '1', t: '功能正确', d: '三层七门线路在模型层面 8/8 正确，且与官方工具的计算结果高度一致（r = 0.9996）。' },&#10;            { n: '2', t: '足够鲁棒', d: '±15% 参数扰动下 100% 正确；输入噪声 10% 时误判率 0.2%。但最差样本 ON/OFF 仅 7.3，接近规格边界。' },&#10;            { n: '3', t: '有速度代价', d: '上升时间 110.5 min，是三层级联的结构性结果；实验取样必须据此安排。' },&#10;        ].map((it) =&gt; (&#10;            &lt;Box style={{ flexDirection: 'row', gap: 12, marginTop: 18 }}&gt;&#10;                &lt;Box style={{ width: 28, height: 28, background: '#1E4FA8', borderRadius: 14, alignItems: 'center', justifyContent: 'center' }}&gt;&#10;                    &lt;Text style={{ fontSize: 15, color: '#FFFFFF', fontWeight: 'bold' }}&gt;{it.n}&lt;/Text&gt;&#10;                &lt;/Box&gt;&#10;                &lt;Box style={{ width: 540 }}&gt;&#10;                    &lt;Text style={{ fontSize: 19, color: '#1A2230', fontWeight: 'bold' }}&gt;{it.t}&lt;/Text&gt;&#10;                    &lt;Text style={{ fontSize: 16, color: '#4A5568', lineHeight: 1.7, marginTop: 2 }}&gt;{it.d}&lt;/Text&gt;&#10;                &lt;/Box&gt;&#10;            &lt;/Box&gt;&#10;        ))}&#10;    &lt;/Box&gt;&#10;&#10;    &lt;Box style={{ position: 'absolute', left: 690, top: 118, width: 550 }}&gt;&#10;        &lt;Box style={{ background: '#F7F9FC', border: '1px solid #D6DCE5', borderRadius: 8, padding: 20, height: 300 }}&gt;&#10;            &lt;Text style={{ fontSize: 14, color: '#8B97A8', letterSpacing: 1 }}&gt;LIMITATIONS&lt;/Text&gt;&#10;            &lt;Text style={{ fontSize: 24, color: '#0E3F8C', fontWeight: 'bold', marginTop: 2 }}&gt;三点局限&lt;/Text&gt;&#10;            &lt;Text style={{ fontSize: 16, color: '#1A2230', lineHeight: 1.95, marginTop: 10 }}&gt;&#10;                ① 模型是 Hill 稳态抽象，未含资源竞争、生长负担、mRNA 寿命。&#10;                &lt;br /&gt;&#10;                ② 门库版本与官方示例不同，绝对 RPU 不可比，只做归一化比较。&#10;                &lt;br /&gt;&#10;                ③ 没有湿实验数据，第 12 页是&quot;纸面推演&quot;，需实验检验。&#10;            &lt;/Text&gt;&#10;        &lt;/Box&gt;&#10;&#10;        &lt;Box style={{ marginTop: 14, padding: 14, background: '#F0F5FC', borderLeft: '4px solid #1E4FA8' }}&gt;&#10;            &lt;Text style={{ fontSize: 15, color: '#4A5568', lineHeight: 1.65 }}&gt;&#10;                下一步：用 Cello 网页版跑一次自己的布线，比对本次 assignment 是否稳定；有条件时先做单门表征，再拼整条线路。&#10;            &lt;/Text&gt;&#10;        &lt;/Box&gt;&#10;    &lt;/Box&gt;&#10;&#10;    &lt;Box style={{ position: 'absolute', left: 40, top: 520, width: 1200, height: 92, background: '#0E3F8C', borderRadius: 8, padding: '16px 24px', flexDirection: 'row', alignItems: 'center', justifyContent: 'space-between' }}&gt;&#10;        &lt;Text style={{ fontSize: 20, color: '#FFFFFF', fontWeight: 'bold' }}&gt;&#10;            一句话：参数可追溯、结果可复现、边界说得清。&#10;        &lt;/Text&gt;&#10;        &lt;Box style={{ flexDirection: 'row', gap: 28 }}&gt;&#10;            {[&#10;                { v: '8/8', k: '逻辑' },&#10;                { v: '0.9996', k: 'r' },&#10;                { v: '110.5 min', k: '延迟' },&#10;            ].map((s) =&gt; (&#10;                &lt;Box style={{ alignItems: 'center' }}&gt;&#10;                    &lt;Text style={{ fontSize: 24, color: '#FFFFFF', fontWeight: 'bold' }}&gt;{s.v}&lt;/Text&gt;&#10;                    &lt;Text style={{ fontSize: 12, color: '#A9C3E8' }}&gt;{s.k}&lt;/Text&gt;&#10;                &lt;/Box&gt;&#10;            ))}&#10;        &lt;/Box&gt;&#10;    &lt;/Box&gt;&#10;&#10;    &lt;Box style={{ position: 'absolute', left: 40, top: 672, width: 1200, flexDirection: 'row', justifyContent: 'space-between' }}&gt;&#10;        &lt;Text style={{ fontSize: 14, color: '#8B97A8' }}&gt;《合成生物学》课程设计 · 三输入多数表决基因线路&lt;/Text&gt;&#10;        &lt;Text style={{ fontSize: 14, color: '#1E4FA8' }}&gt;13 / 13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5" name=""/>
          <p:cNvSpPr/>
          <p:nvPr/>
        </p:nvSpPr>
        <p:spPr>
          <a:xfrm rot="0" flipH="0" flipV="0">
            <a:off x="0" y="0"/>
            <a:ext cx="12192000" cy="5715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16" name=""/>
          <p:cNvSpPr/>
          <p:nvPr/>
        </p:nvSpPr>
        <p:spPr>
          <a:xfrm rot="0" flipH="0" flipV="0">
            <a:off x="381000" y="361950"/>
            <a:ext cx="57150" cy="304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571500" y="323850"/>
            <a:ext cx="15240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E3F8C"/>
                </a:solidFill>
                <a:latin typeface="Microsoft YaHei"/>
                <a:ea typeface="Microsoft YaHei"/>
              </a:rPr>
              <a:t>结论与局限</a:t>
            </a:r>
            <a:endParaRPr/>
          </a:p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10848975" y="533400"/>
            <a:ext cx="9620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05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　落地与结论</a:t>
            </a:r>
            <a:endParaRPr/>
          </a:p>
        </p:txBody>
      </p:sp>
      <p:sp>
        <p:nvSpPr>
          <p:cNvPr id="119" name=""/>
          <p:cNvSpPr/>
          <p:nvPr/>
        </p:nvSpPr>
        <p:spPr>
          <a:xfrm rot="0" flipH="0" flipV="0">
            <a:off x="381000" y="876300"/>
            <a:ext cx="11430000" cy="9525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381000" y="1123950"/>
            <a:ext cx="5715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75">
                <a:solidFill>
                  <a:srgbClr val="8B97A8"/>
                </a:solidFill>
                <a:latin typeface="Microsoft YaHei"/>
                <a:ea typeface="Microsoft YaHei"/>
              </a:rPr>
              <a:t>CONCLUSIONS</a:t>
            </a:r>
            <a:endParaRPr/>
          </a:p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381000" y="1304925"/>
            <a:ext cx="57150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0E3F8C"/>
                </a:solidFill>
                <a:latin typeface="Microsoft YaHei"/>
                <a:ea typeface="Microsoft YaHei"/>
              </a:rPr>
              <a:t>三条结论</a:t>
            </a:r>
            <a:endParaRPr/>
          </a:p>
        </p:txBody>
      </p:sp>
      <p:sp>
        <p:nvSpPr>
          <p:cNvPr id="122" name=""/>
          <p:cNvSpPr/>
          <p:nvPr/>
        </p:nvSpPr>
        <p:spPr>
          <a:xfrm rot="0" flipH="0" flipV="0">
            <a:off x="381000" y="175260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466725" y="1800225"/>
            <a:ext cx="95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762000" y="1752600"/>
            <a:ext cx="51435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A2230"/>
                </a:solidFill>
                <a:latin typeface="Microsoft YaHei"/>
                <a:ea typeface="Microsoft YaHei"/>
              </a:rPr>
              <a:t>功能正确</a:t>
            </a:r>
            <a:endParaRPr/>
          </a:p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762000" y="1990725"/>
            <a:ext cx="51435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三层七门线路在模型层面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8/8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正确，且与官方工具的计算结果高度一致（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r = 0.9996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）。</a:t>
            </a:r>
            <a:endParaRPr/>
          </a:p>
        </p:txBody>
      </p:sp>
      <p:sp>
        <p:nvSpPr>
          <p:cNvPr id="126" name=""/>
          <p:cNvSpPr/>
          <p:nvPr/>
        </p:nvSpPr>
        <p:spPr>
          <a:xfrm rot="0" flipH="0" flipV="0">
            <a:off x="381000" y="2790825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466725" y="2838450"/>
            <a:ext cx="95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762000" y="2790825"/>
            <a:ext cx="51435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A2230"/>
                </a:solidFill>
                <a:latin typeface="Microsoft YaHei"/>
                <a:ea typeface="Microsoft YaHei"/>
              </a:rPr>
              <a:t>足够鲁棒</a:t>
            </a:r>
            <a:endParaRPr/>
          </a:p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762000" y="3028950"/>
            <a:ext cx="51435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±15%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参数扰动下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100%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正确；输入噪声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10%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时误判率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0.2%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。但最差样本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ON/OFF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仅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7.3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，接近规格边界。</a:t>
            </a:r>
            <a:endParaRPr/>
          </a:p>
        </p:txBody>
      </p:sp>
      <p:sp>
        <p:nvSpPr>
          <p:cNvPr id="130" name=""/>
          <p:cNvSpPr/>
          <p:nvPr/>
        </p:nvSpPr>
        <p:spPr>
          <a:xfrm rot="0" flipH="0" flipV="0">
            <a:off x="381000" y="38290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466725" y="3876675"/>
            <a:ext cx="95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762000" y="3829050"/>
            <a:ext cx="51435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A2230"/>
                </a:solidFill>
                <a:latin typeface="Microsoft YaHei"/>
                <a:ea typeface="Microsoft YaHei"/>
              </a:rPr>
              <a:t>有速度代价</a:t>
            </a:r>
            <a:endParaRPr/>
          </a:p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762000" y="4067175"/>
            <a:ext cx="5143500" cy="3143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上升时间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110.5 min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，是三层级联的结构性结果；实验取样必须据此安排。</a:t>
            </a:r>
            <a:endParaRPr/>
          </a:p>
        </p:txBody>
      </p:sp>
      <p:sp>
        <p:nvSpPr>
          <p:cNvPr id="134" name=""/>
          <p:cNvSpPr/>
          <p:nvPr/>
        </p:nvSpPr>
        <p:spPr>
          <a:xfrm rot="0" flipH="0" flipV="0">
            <a:off x="6572250" y="1123950"/>
            <a:ext cx="5238750" cy="2857500"/>
          </a:xfrm>
          <a:prstGeom prst="roundRect">
            <a:avLst>
              <a:gd name="adj" fmla="val 2667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6762750" y="1314450"/>
            <a:ext cx="4857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75">
                <a:solidFill>
                  <a:srgbClr val="8B97A8"/>
                </a:solidFill>
                <a:latin typeface="Microsoft YaHei"/>
                <a:ea typeface="Microsoft YaHei"/>
              </a:rPr>
              <a:t>LIMITATIONS</a:t>
            </a:r>
            <a:endParaRPr/>
          </a:p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6762750" y="1495425"/>
            <a:ext cx="48577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0E3F8C"/>
                </a:solidFill>
                <a:latin typeface="Microsoft YaHei"/>
                <a:ea typeface="Microsoft YaHei"/>
              </a:rPr>
              <a:t>三点局限</a:t>
            </a:r>
            <a:endParaRPr/>
          </a:p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6762750" y="1866900"/>
            <a:ext cx="4857750" cy="1076325"/>
          </a:xfrm>
          <a:prstGeom prst="rect"/>
        </p:spPr>
        <p:txBody>
          <a:bodyPr wrap="none" lIns="0" tIns="0" rIns="0" bIns="0"/>
          <a:p>
            <a:pPr>
              <a:lnSpc>
                <a:spcPct val="195000"/>
              </a:lnSpc>
            </a:pP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①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模型是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 Hill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稳态抽象，未含资源竞争、生长负担、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mRNA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寿命。</a:t>
            </a:r>
            <a:endParaRPr/>
          </a:p>
          <a:p>
            <a:pPr>
              <a:lnSpc>
                <a:spcPct val="195000"/>
              </a:lnSpc>
            </a:pP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②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门库版本与官方示例不同，绝对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 RPU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不可比，只做归一化比较。</a:t>
            </a:r>
            <a:endParaRPr/>
          </a:p>
          <a:p>
            <a:pPr>
              <a:lnSpc>
                <a:spcPct val="195000"/>
              </a:lnSpc>
            </a:pP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③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没有湿实验数据，第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 12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页是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纸面推演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，需实验检验。</a:t>
            </a:r>
            <a:endParaRPr/>
          </a:p>
        </p:txBody>
      </p:sp>
      <p:sp>
        <p:nvSpPr>
          <p:cNvPr id="138" name=""/>
          <p:cNvSpPr/>
          <p:nvPr/>
        </p:nvSpPr>
        <p:spPr>
          <a:xfrm rot="0" flipH="0" flipV="0">
            <a:off x="6610350" y="4114800"/>
            <a:ext cx="5238750" cy="838200"/>
          </a:xfrm>
          <a:prstGeom prst="rect">
            <a:avLst/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139" name=""/>
          <p:cNvSpPr/>
          <p:nvPr/>
        </p:nvSpPr>
        <p:spPr>
          <a:xfrm rot="0" flipH="0" flipV="0">
            <a:off x="6572250" y="4114800"/>
            <a:ext cx="5276850" cy="838200"/>
          </a:xfrm>
          <a:custGeom>
            <a:pathLst>
              <a:path w="554" h="88">
                <a:moveTo>
                  <a:pt x="0" y="0"/>
                </a:moveTo>
                <a:lnTo>
                  <a:pt x="4" y="0"/>
                </a:lnTo>
                <a:lnTo>
                  <a:pt x="4" y="88"/>
                </a:lnTo>
                <a:lnTo>
                  <a:pt x="0" y="88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6743700" y="4248150"/>
            <a:ext cx="493395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下一步：用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Cello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网页版跑一次自己的布线，比对本次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assignment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是否稳定；有条件时先做单门表征，再拼整条线路。</a:t>
            </a:r>
            <a:endParaRPr/>
          </a:p>
        </p:txBody>
      </p:sp>
      <p:sp>
        <p:nvSpPr>
          <p:cNvPr id="141" name=""/>
          <p:cNvSpPr/>
          <p:nvPr/>
        </p:nvSpPr>
        <p:spPr>
          <a:xfrm rot="0" flipH="0" flipV="0">
            <a:off x="381000" y="4953000"/>
            <a:ext cx="11430000" cy="876300"/>
          </a:xfrm>
          <a:prstGeom prst="roundRect">
            <a:avLst>
              <a:gd name="adj" fmla="val 8696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609600" y="5276850"/>
            <a:ext cx="4191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一句话：参数可追溯、结果可复现、边界说得清。</a:t>
            </a:r>
            <a:endParaRPr/>
          </a:p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8743950" y="5181600"/>
            <a:ext cx="3905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FFFFF"/>
                </a:solidFill>
                <a:latin typeface="Microsoft YaHei"/>
                <a:ea typeface="Microsoft YaHei"/>
              </a:rPr>
              <a:t>8/8</a:t>
            </a:r>
            <a:endParaRPr/>
          </a:p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8829675" y="5457825"/>
            <a:ext cx="228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A9C3E8"/>
                </a:solidFill>
                <a:latin typeface="Microsoft YaHei"/>
                <a:ea typeface="Microsoft YaHei"/>
              </a:rPr>
              <a:t>逻辑</a:t>
            </a:r>
            <a:endParaRPr/>
          </a:p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9401175" y="5181600"/>
            <a:ext cx="7715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FFFFF"/>
                </a:solidFill>
                <a:latin typeface="Microsoft YaHei"/>
                <a:ea typeface="Microsoft YaHei"/>
              </a:rPr>
              <a:t>0.9996</a:t>
            </a:r>
            <a:endParaRPr/>
          </a:p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9763125" y="5457825"/>
            <a:ext cx="476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A9C3E8"/>
                </a:solidFill>
                <a:latin typeface="Microsoft YaHei"/>
                <a:ea typeface="Microsoft YaHei"/>
              </a:rPr>
              <a:t>r</a:t>
            </a:r>
            <a:endParaRPr/>
          </a:p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10439400" y="5181600"/>
            <a:ext cx="11430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FFFFF"/>
                </a:solidFill>
                <a:latin typeface="Microsoft YaHei"/>
                <a:ea typeface="Microsoft YaHei"/>
              </a:rPr>
              <a:t>110.5 min</a:t>
            </a:r>
            <a:endParaRPr/>
          </a:p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10896600" y="5457825"/>
            <a:ext cx="228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A9C3E8"/>
                </a:solidFill>
                <a:latin typeface="Microsoft YaHei"/>
                <a:ea typeface="Microsoft YaHei"/>
              </a:rPr>
              <a:t>延迟</a:t>
            </a:r>
            <a:endParaRPr/>
          </a:p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381000" y="6400800"/>
            <a:ext cx="3048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《合成生物学》课程设计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三输入多数表决基因线路</a:t>
            </a:r>
            <a:endParaRPr/>
          </a:p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113538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E4FA8"/>
                </a:solidFill>
                <a:latin typeface="Microsoft YaHei"/>
                <a:ea typeface="Microsoft YaHei"/>
              </a:rPr>
              <a:t>13 / 13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2026-10-17T16:22:44Z</dcterms:created>
  <dcterms:modified xsi:type="dcterms:W3CDTF">2026-10-17T16:22:44Z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{"AIGC":{"Label":"1","ContentProducer":"00119111010856365494821B355","ProduceID":"01a148cce2247d99a7c1663a114900e5","ReservedCode1":"","ContentPropagator":"00119111010856365494821B355","PropagateID":"01a148cce2247d99a7c1663a114900e5","ReservedCode2":""}}</vt:lpwstr>
  </property>
</Properties>
</file>